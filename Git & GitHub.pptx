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60" r:id="rId5"/>
    <p:sldId id="261" r:id="rId6"/>
    <p:sldId id="262" r:id="rId7"/>
    <p:sldId id="263" r:id="rId8"/>
    <p:sldId id="264" r:id="rId9"/>
    <p:sldId id="266" r:id="rId10"/>
    <p:sldId id="267" r:id="rId11"/>
    <p:sldId id="269" r:id="rId12"/>
    <p:sldId id="270" r:id="rId13"/>
    <p:sldId id="271" r:id="rId14"/>
    <p:sldId id="272" r:id="rId15"/>
    <p:sldId id="273" r:id="rId16"/>
    <p:sldId id="274" r:id="rId17"/>
    <p:sldId id="275" r:id="rId18"/>
    <p:sldId id="276" r:id="rId19"/>
    <p:sldId id="277" r:id="rId20"/>
    <p:sldId id="289" r:id="rId21"/>
    <p:sldId id="290" r:id="rId22"/>
    <p:sldId id="291" r:id="rId23"/>
    <p:sldId id="292" r:id="rId24"/>
    <p:sldId id="293" r:id="rId25"/>
    <p:sldId id="294" r:id="rId26"/>
    <p:sldId id="295" r:id="rId27"/>
    <p:sldId id="296"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57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404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yourself. Set expectations: no prior experience needed; we will type real commands. Ask everyone to have a laptop with internet ready. Total session: about 1 hour 50 minutes including a 5 minute break and five hands-on labs.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plan. Emphasise that roughly half the time is hands-on. Labs are in orange slides. If running short on time, Lab 5 (pair pull requests) can be set as homework.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question to the room: who has ever lost work, or had files named final, final2, final_REAL? Get a show of hands.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conceptual. Version control is used by software developers, but also writers, designers, data scientists and researchers. Anything made of text files benefits.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beginner confusion. You can use Git without GitHub at all. GitHub is a hosting service for Git repositories, owned by Microsoft since 2018.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and once they click, every command makes sense.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a commit is NOT the same as saving a file. You save files many times; you commit when you reach a meaningful point. The codes like a1f3c9e are short versions of the commit ID, called a hash.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if you can. Desk, box, album. git add puts changes in the box; git commit seals the box and puts it in the album. This mental model explains git status output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students installed Git before class. Have a helper walk around during this section.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recent version is fine. On Windows, tell students to open Git Bash from the Start menu rather than Command Prompt, so commands match the slides. Also recommend VS Code as a text editor.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commit is stamped with this name and email, and they are public on GitHub. If a student wants privacy, GitHub offers a noreply email address in Settings &gt; Emails.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Common issues: Windows users opening Command Prompt instead of Git Bash; typos in quotes; forgetting --global. If git config --list shows a pager, press q to exit.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Type along with 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hidden .git folder with ls -a. Explain that deleting it deletes all history but keeps the current files. Running git init in your home folder makes Git track your entire user directory, which is confusing; if it happens, delete that .git folder.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file first (e.g. index.html or notes.txt using your editor), then run git status. 'Untracked' means Git sees the file but is not tracking it yet. Encourage students to run git status before and after every command today.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 means 'the current folder'. It's convenient but check git status first so you don't stage files you didn't mean to, like passwords. That's what .gitignore is for, coming shortly.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stuck in Vim is a rite of passage; show how to escape. Optionally set a friendlier editor: git config --global core.editor "code --wait" for VS Code.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sees a colon at the bottom of the screen, they are in the pager: press q. Mention --graph for later when we have branches.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90 percent of daily Git use. Everything else builds on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take our local repository online.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tick Add a README, the first push will be rejected because histories differ. Easiest fix for beginners: delete and recreate the repo empty. Students may want to verify their email address; some features require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well-known public repository live and point out each area. Stars are like bookmarks; forks are personal copies of someone else's repository.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 upload your new commits. Pull = download others' new commits and merge them in. Clone = download a whole repository the first time. 'origin' is just the conventional nickname for the GitHub URL.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URL from GitHub's page for the new repo rather than typing it. If 'remote origin already exists', use git remote set-url origin &lt;url&gt;. The first push will ask you to sign in — next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in advance which method your class will use and test it on the classroom machines. On Mac, Git Credential Manager or gh CLI are the smoothest. Tokens are shown only once, so students should copy them immediately and treat them like passwords.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already sets up origin for you, so no git remote add is needed. Clone into a new folder, not inside another repository.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step deliberately creates a commit on GitHub that is not on the laptop, so students see git pull actually bring something down. Check each student's repo page. Troubleshooting: authentication failures (use the method chosen earlier) and a wrongly typed remote URL (git remote -v to check).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A"/>
        </a:solidFill>
        <a:effectLst/>
      </p:bgPr>
    </p:bg>
    <p:spTree>
      <p:nvGrpSpPr>
        <p:cNvPr id="1" name=""/>
        <p:cNvGrpSpPr/>
        <p:nvPr/>
      </p:nvGrpSpPr>
      <p:grpSpPr>
        <a:xfrm>
          <a:off x="0" y="0"/>
          <a:ext cx="0" cy="0"/>
          <a:chOff x="0" y="0"/>
          <a:chExt cx="0" cy="0"/>
        </a:xfrm>
      </p:grpSpPr>
      <p:pic>
        <p:nvPicPr>
          <p:cNvPr id="2" name="Image 0" descr="Decorative branch graph of commits"/>
          <p:cNvPicPr>
            <a:picLocks noChangeAspect="1"/>
          </p:cNvPicPr>
          <p:nvPr/>
        </p:nvPicPr>
        <p:blipFill>
          <a:blip r:embed="rId3"/>
          <a:srcRect/>
          <a:stretch/>
        </p:blipFill>
        <p:spPr>
          <a:xfrm>
            <a:off x="0" y="4318000"/>
            <a:ext cx="12192000" cy="2286000"/>
          </a:xfrm>
          <a:prstGeom prst="rect">
            <a:avLst/>
          </a:prstGeom>
        </p:spPr>
      </p:pic>
      <p:sp>
        <p:nvSpPr>
          <p:cNvPr id="3"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7894F"/>
                </a:solidFill>
                <a:latin typeface="IBM Plex Sans" pitchFamily="34" charset="0"/>
                <a:ea typeface="IBM Plex Sans" pitchFamily="34" charset="-122"/>
                <a:cs typeface="IBM Plex Sans" pitchFamily="34" charset="-120"/>
              </a:rPr>
              <a:t>A HANDS-ON WORKSHOP</a:t>
            </a:r>
            <a:endParaRPr lang="en-US" sz="1400" dirty="0"/>
          </a:p>
        </p:txBody>
      </p:sp>
      <p:sp>
        <p:nvSpPr>
          <p:cNvPr id="4" name="Text 1"/>
          <p:cNvSpPr/>
          <p:nvPr/>
        </p:nvSpPr>
        <p:spPr>
          <a:xfrm>
            <a:off x="812800" y="1264920"/>
            <a:ext cx="10883392" cy="1838960"/>
          </a:xfrm>
          <a:prstGeom prst="rect">
            <a:avLst/>
          </a:prstGeom>
          <a:noFill/>
          <a:ln/>
        </p:spPr>
        <p:txBody>
          <a:bodyPr wrap="square" lIns="0" tIns="0" rIns="0" bIns="0" rtlCol="0" anchor="t">
            <a:normAutofit/>
          </a:bodyPr>
          <a:lstStyle/>
          <a:p>
            <a:pPr marL="0" indent="0" algn="l">
              <a:lnSpc>
                <a:spcPts val="7140"/>
              </a:lnSpc>
              <a:buNone/>
            </a:pPr>
            <a:r>
              <a:rPr lang="en-US" sz="7000" b="1" dirty="0">
                <a:solidFill>
                  <a:srgbClr val="F6F4EF"/>
                </a:solidFill>
                <a:latin typeface="Space Grotesk" pitchFamily="34" charset="0"/>
                <a:ea typeface="Space Grotesk" pitchFamily="34" charset="-122"/>
                <a:cs typeface="Space Grotesk" pitchFamily="34" charset="-120"/>
              </a:rPr>
              <a:t>Git &amp; GitHub</a:t>
            </a:r>
            <a:endParaRPr lang="en-US" sz="7000" dirty="0"/>
          </a:p>
          <a:p>
            <a:pPr marL="0" indent="0" algn="l">
              <a:lnSpc>
                <a:spcPts val="7140"/>
              </a:lnSpc>
              <a:buNone/>
            </a:pPr>
            <a:r>
              <a:rPr lang="en-US" sz="7000" b="1" dirty="0">
                <a:solidFill>
                  <a:srgbClr val="F6F4EF"/>
                </a:solidFill>
                <a:latin typeface="Space Grotesk" pitchFamily="34" charset="0"/>
                <a:ea typeface="Space Grotesk" pitchFamily="34" charset="-122"/>
                <a:cs typeface="Space Grotesk" pitchFamily="34" charset="-120"/>
              </a:rPr>
              <a:t>for Beginners</a:t>
            </a:r>
            <a:endParaRPr lang="en-US" sz="7000" dirty="0"/>
          </a:p>
        </p:txBody>
      </p:sp>
      <p:sp>
        <p:nvSpPr>
          <p:cNvPr id="5" name="Text 2"/>
          <p:cNvSpPr/>
          <p:nvPr/>
        </p:nvSpPr>
        <p:spPr>
          <a:xfrm>
            <a:off x="812800" y="328168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Save your work, travel back in time, and build things together</a:t>
            </a:r>
            <a:endParaRPr lang="en-US" sz="2200" dirty="0"/>
          </a:p>
        </p:txBody>
      </p:sp>
      <p:sp>
        <p:nvSpPr>
          <p:cNvPr id="6" name="Text 3"/>
          <p:cNvSpPr/>
          <p:nvPr/>
        </p:nvSpPr>
        <p:spPr>
          <a:xfrm>
            <a:off x="812800" y="38481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smtClean="0">
                <a:solidFill>
                  <a:srgbClr val="C3C7D1"/>
                </a:solidFill>
                <a:latin typeface="IBM Plex Sans" pitchFamily="34" charset="0"/>
                <a:ea typeface="IBM Plex Sans" pitchFamily="34" charset="-122"/>
                <a:cs typeface="IBM Plex Sans" pitchFamily="34" charset="-120"/>
              </a:rPr>
              <a:t>Arpan Pokhrel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TODAY'S PLAN · ~1 H 50 MIN</a:t>
            </a:r>
            <a:endParaRPr lang="en-US" sz="1200" dirty="0"/>
          </a:p>
        </p:txBody>
      </p:sp>
      <p:sp>
        <p:nvSpPr>
          <p:cNvPr id="3" name="Text 1"/>
          <p:cNvSpPr/>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What we'll cover</a:t>
            </a:r>
            <a:endParaRPr lang="en-US" sz="3600" dirty="0"/>
          </a:p>
        </p:txBody>
      </p:sp>
      <p:sp>
        <p:nvSpPr>
          <p:cNvPr id="4" name="Shape 2"/>
          <p:cNvSpPr/>
          <p:nvPr/>
        </p:nvSpPr>
        <p:spPr>
          <a:xfrm>
            <a:off x="812800" y="1940560"/>
            <a:ext cx="10566400" cy="0"/>
          </a:xfrm>
          <a:prstGeom prst="line">
            <a:avLst/>
          </a:prstGeom>
          <a:noFill/>
          <a:ln w="10160">
            <a:solidFill>
              <a:srgbClr val="141413">
                <a:alpha val="22000"/>
              </a:srgbClr>
            </a:solidFill>
            <a:prstDash val="solid"/>
          </a:ln>
        </p:spPr>
      </p:sp>
      <p:sp>
        <p:nvSpPr>
          <p:cNvPr id="5" name="Shape 3"/>
          <p:cNvSpPr/>
          <p:nvPr/>
        </p:nvSpPr>
        <p:spPr>
          <a:xfrm>
            <a:off x="817880" y="1935480"/>
            <a:ext cx="0" cy="361442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2568111557"/>
              </p:ext>
            </p:extLst>
          </p:nvPr>
        </p:nvGraphicFramePr>
        <p:xfrm>
          <a:off x="975360" y="2021840"/>
          <a:ext cx="10251440" cy="3558540"/>
        </p:xfrm>
        <a:graphic>
          <a:graphicData uri="http://schemas.openxmlformats.org/drawingml/2006/table">
            <a:tbl>
              <a:tblPr/>
              <a:tblGrid>
                <a:gridCol w="820115">
                  <a:extLst>
                    <a:ext uri="{9D8B030D-6E8A-4147-A177-3AD203B41FA5}">
                      <a16:colId xmlns:a16="http://schemas.microsoft.com/office/drawing/2014/main" val="20000"/>
                    </a:ext>
                  </a:extLst>
                </a:gridCol>
                <a:gridCol w="7586066">
                  <a:extLst>
                    <a:ext uri="{9D8B030D-6E8A-4147-A177-3AD203B41FA5}">
                      <a16:colId xmlns:a16="http://schemas.microsoft.com/office/drawing/2014/main" val="20001"/>
                    </a:ext>
                  </a:extLst>
                </a:gridCol>
                <a:gridCol w="1845259">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Topic</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Why version control?</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endParaRPr lang="en-US" dirty="0"/>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Core ideas: commits, staging, repositories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endParaRPr lang="en-US"/>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Setting up Git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endParaRPr lang="en-US"/>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Your first repository</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endParaRPr lang="en-US" dirty="0"/>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383540">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CB9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5"/>
                  </a:ext>
                </a:extLst>
              </a:tr>
              <a:tr h="383540">
                <a:tc>
                  <a:txBody>
                    <a:bodyPr/>
                    <a:lstStyle/>
                    <a:p>
                      <a:endParaRPr lang="en-US" dirty="0"/>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gn="r">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6"/>
                  </a:ext>
                </a:extLst>
              </a:tr>
              <a:tr h="383540">
                <a:tc>
                  <a:txBody>
                    <a:bodyPr/>
                    <a:lstStyle/>
                    <a:p>
                      <a:endParaRPr lang="en-US"/>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gn="r">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r h="383540">
                <a:tc>
                  <a:txBody>
                    <a:bodyPr/>
                    <a:lstStyle/>
                    <a:p>
                      <a:endParaRPr lang="en-US" dirty="0"/>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gn="r">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8"/>
                  </a:ext>
                </a:extLst>
              </a:tr>
            </a:tbl>
          </a:graphicData>
        </a:graphic>
      </p:graphicFrame>
      <p:sp>
        <p:nvSpPr>
          <p:cNvPr id="7" name="Text 4"/>
          <p:cNvSpPr/>
          <p:nvPr/>
        </p:nvSpPr>
        <p:spPr>
          <a:xfrm>
            <a:off x="812800" y="6238241"/>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8" name="Text 5"/>
          <p:cNvSpPr/>
          <p:nvPr/>
        </p:nvSpPr>
        <p:spPr>
          <a:xfrm>
            <a:off x="11287760" y="6238241"/>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F2A"/>
        </a:solidFill>
        <a:effectLst/>
      </p:bgPr>
    </p:bg>
    <p:spTree>
      <p:nvGrpSpPr>
        <p:cNvPr id="1" name=""/>
        <p:cNvGrpSpPr/>
        <p:nvPr/>
      </p:nvGrpSpPr>
      <p:grpSpPr>
        <a:xfrm>
          <a:off x="0" y="0"/>
          <a:ext cx="0" cy="0"/>
          <a:chOff x="0" y="0"/>
          <a:chExt cx="0" cy="0"/>
        </a:xfrm>
      </p:grpSpPr>
      <p:sp>
        <p:nvSpPr>
          <p:cNvPr id="2" name="Text 0"/>
          <p:cNvSpPr/>
          <p:nvPr/>
        </p:nvSpPr>
        <p:spPr>
          <a:xfrm>
            <a:off x="812800" y="1973580"/>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7894F"/>
                </a:solidFill>
                <a:latin typeface="Space Grotesk" pitchFamily="34" charset="0"/>
                <a:ea typeface="Space Grotesk" pitchFamily="34" charset="-122"/>
                <a:cs typeface="Space Grotesk" pitchFamily="34" charset="-120"/>
              </a:rPr>
              <a:t>01</a:t>
            </a:r>
            <a:endParaRPr lang="en-US" sz="6000" dirty="0"/>
          </a:p>
        </p:txBody>
      </p:sp>
      <p:sp>
        <p:nvSpPr>
          <p:cNvPr id="3" name="Text 1"/>
          <p:cNvSpPr/>
          <p:nvPr/>
        </p:nvSpPr>
        <p:spPr>
          <a:xfrm>
            <a:off x="812800" y="293878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F"/>
                </a:solidFill>
                <a:latin typeface="Space Grotesk" pitchFamily="34" charset="0"/>
                <a:ea typeface="Space Grotesk" pitchFamily="34" charset="-122"/>
                <a:cs typeface="Space Grotesk" pitchFamily="34" charset="-120"/>
              </a:rPr>
              <a:t>Why version control?</a:t>
            </a:r>
            <a:endParaRPr lang="en-US" sz="6000" dirty="0"/>
          </a:p>
        </p:txBody>
      </p:sp>
      <p:sp>
        <p:nvSpPr>
          <p:cNvPr id="4" name="Text 2"/>
          <p:cNvSpPr/>
          <p:nvPr/>
        </p:nvSpPr>
        <p:spPr>
          <a:xfrm>
            <a:off x="812800" y="394208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The problem Git solves</a:t>
            </a:r>
            <a:endParaRPr lang="en-US" sz="2200" dirty="0"/>
          </a:p>
        </p:txBody>
      </p:sp>
      <p:sp>
        <p:nvSpPr>
          <p:cNvPr id="5" name="Text 3"/>
          <p:cNvSpPr/>
          <p:nvPr/>
        </p:nvSpPr>
        <p:spPr>
          <a:xfrm>
            <a:off x="812800" y="4508500"/>
            <a:ext cx="2022554" cy="375920"/>
          </a:xfrm>
          <a:prstGeom prst="roundRect">
            <a:avLst>
              <a:gd name="adj" fmla="val 50000"/>
            </a:avLst>
          </a:prstGeom>
          <a:solidFill>
            <a:srgbClr val="F7894F"/>
          </a:solidFill>
          <a:ln/>
        </p:spPr>
        <p:txBody>
          <a:bodyPr wrap="none" lIns="0" tIns="0" rIns="0" bIns="0" rtlCol="0" anchor="ctr">
            <a:normAutofit/>
          </a:bodyPr>
          <a:lstStyle/>
          <a:p>
            <a:pPr marL="0" indent="0" algn="ctr">
              <a:lnSpc>
                <a:spcPts val="1960"/>
              </a:lnSpc>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Version control = a history of your project</a:t>
            </a:r>
            <a:endParaRPr lang="en-US" sz="3600" dirty="0"/>
          </a:p>
        </p:txBody>
      </p:sp>
      <p:sp>
        <p:nvSpPr>
          <p:cNvPr id="4" name="Text 2"/>
          <p:cNvSpPr/>
          <p:nvPr/>
        </p:nvSpPr>
        <p:spPr>
          <a:xfrm>
            <a:off x="812800" y="1935482"/>
            <a:ext cx="10883392"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B1F2A"/>
                </a:solidFill>
                <a:latin typeface="IBM Plex Sans" pitchFamily="34" charset="0"/>
                <a:ea typeface="IBM Plex Sans" pitchFamily="34" charset="-122"/>
                <a:cs typeface="IBM Plex Sans" pitchFamily="34" charset="-120"/>
              </a:rPr>
              <a:t>A </a:t>
            </a:r>
            <a:r>
              <a:rPr lang="en-US" sz="1800" b="1" dirty="0">
                <a:solidFill>
                  <a:srgbClr val="1B1F2A"/>
                </a:solidFill>
                <a:latin typeface="IBM Plex Sans" pitchFamily="34" charset="0"/>
                <a:ea typeface="IBM Plex Sans" pitchFamily="34" charset="-122"/>
                <a:cs typeface="IBM Plex Sans" pitchFamily="34" charset="-120"/>
              </a:rPr>
              <a:t>version control system</a:t>
            </a:r>
            <a:r>
              <a:rPr lang="en-US" sz="1800" dirty="0">
                <a:solidFill>
                  <a:srgbClr val="1B1F2A"/>
                </a:solidFill>
                <a:latin typeface="IBM Plex Sans" pitchFamily="34" charset="0"/>
                <a:ea typeface="IBM Plex Sans" pitchFamily="34" charset="-122"/>
                <a:cs typeface="IBM Plex Sans" pitchFamily="34" charset="-120"/>
              </a:rPr>
              <a:t> records every change to your files, so you can see what changed, when, by whom, and why — and go back at any time.</a:t>
            </a:r>
            <a:endParaRPr lang="en-US" sz="1800" dirty="0"/>
          </a:p>
        </p:txBody>
      </p:sp>
      <p:sp>
        <p:nvSpPr>
          <p:cNvPr id="5" name="Shape 3"/>
          <p:cNvSpPr/>
          <p:nvPr/>
        </p:nvSpPr>
        <p:spPr>
          <a:xfrm>
            <a:off x="815975" y="2883536"/>
            <a:ext cx="3380264" cy="1934210"/>
          </a:xfrm>
          <a:prstGeom prst="roundRect">
            <a:avLst>
              <a:gd name="adj" fmla="val 5089"/>
            </a:avLst>
          </a:prstGeom>
          <a:solidFill>
            <a:srgbClr val="FFFDF8"/>
          </a:solidFill>
          <a:ln w="6350">
            <a:solidFill>
              <a:srgbClr val="E2DDD0"/>
            </a:solidFill>
            <a:prstDash val="solid"/>
          </a:ln>
        </p:spPr>
      </p:sp>
      <p:pic>
        <p:nvPicPr>
          <p:cNvPr id="6" name="Image 0" descr="Clock"/>
          <p:cNvPicPr>
            <a:picLocks noChangeAspect="1"/>
          </p:cNvPicPr>
          <p:nvPr/>
        </p:nvPicPr>
        <p:blipFill>
          <a:blip r:embed="rId3"/>
          <a:srcRect/>
          <a:stretch/>
        </p:blipFill>
        <p:spPr>
          <a:xfrm>
            <a:off x="1046480" y="3114039"/>
            <a:ext cx="304800" cy="304800"/>
          </a:xfrm>
          <a:prstGeom prst="rect">
            <a:avLst/>
          </a:prstGeom>
        </p:spPr>
      </p:pic>
      <p:sp>
        <p:nvSpPr>
          <p:cNvPr id="7" name="Text 4"/>
          <p:cNvSpPr/>
          <p:nvPr/>
        </p:nvSpPr>
        <p:spPr>
          <a:xfrm>
            <a:off x="1046480" y="3507739"/>
            <a:ext cx="300683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History</a:t>
            </a:r>
            <a:endParaRPr lang="en-US" sz="1600" dirty="0"/>
          </a:p>
        </p:txBody>
      </p:sp>
      <p:sp>
        <p:nvSpPr>
          <p:cNvPr id="8" name="Text 5"/>
          <p:cNvSpPr/>
          <p:nvPr/>
        </p:nvSpPr>
        <p:spPr>
          <a:xfrm>
            <a:off x="1046480" y="3840482"/>
            <a:ext cx="300683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Every saved version is kept. Nothing is ever really lost.</a:t>
            </a:r>
            <a:endParaRPr lang="en-US" sz="1400" dirty="0"/>
          </a:p>
        </p:txBody>
      </p:sp>
      <p:sp>
        <p:nvSpPr>
          <p:cNvPr id="9" name="Shape 6"/>
          <p:cNvSpPr/>
          <p:nvPr/>
        </p:nvSpPr>
        <p:spPr>
          <a:xfrm>
            <a:off x="4405789" y="2883536"/>
            <a:ext cx="3380343" cy="1934210"/>
          </a:xfrm>
          <a:prstGeom prst="roundRect">
            <a:avLst>
              <a:gd name="adj" fmla="val 5089"/>
            </a:avLst>
          </a:prstGeom>
          <a:solidFill>
            <a:srgbClr val="FFFDF8"/>
          </a:solidFill>
          <a:ln w="6350">
            <a:solidFill>
              <a:srgbClr val="E2DDD0"/>
            </a:solidFill>
            <a:prstDash val="solid"/>
          </a:ln>
        </p:spPr>
      </p:sp>
      <p:pic>
        <p:nvPicPr>
          <p:cNvPr id="10" name="Image 1" descr="Activity"/>
          <p:cNvPicPr>
            <a:picLocks noChangeAspect="1"/>
          </p:cNvPicPr>
          <p:nvPr/>
        </p:nvPicPr>
        <p:blipFill>
          <a:blip r:embed="rId4"/>
          <a:srcRect/>
          <a:stretch/>
        </p:blipFill>
        <p:spPr>
          <a:xfrm>
            <a:off x="4636294" y="3114039"/>
            <a:ext cx="304800" cy="304800"/>
          </a:xfrm>
          <a:prstGeom prst="rect">
            <a:avLst/>
          </a:prstGeom>
        </p:spPr>
      </p:pic>
      <p:sp>
        <p:nvSpPr>
          <p:cNvPr id="11" name="Text 7"/>
          <p:cNvSpPr/>
          <p:nvPr/>
        </p:nvSpPr>
        <p:spPr>
          <a:xfrm>
            <a:off x="4636294" y="3507739"/>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Undo</a:t>
            </a:r>
            <a:endParaRPr lang="en-US" sz="1600" dirty="0"/>
          </a:p>
        </p:txBody>
      </p:sp>
      <p:sp>
        <p:nvSpPr>
          <p:cNvPr id="12" name="Text 8"/>
          <p:cNvSpPr/>
          <p:nvPr/>
        </p:nvSpPr>
        <p:spPr>
          <a:xfrm>
            <a:off x="4636294" y="3840482"/>
            <a:ext cx="30069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Made a mess? Jump back to any earlier working version.</a:t>
            </a:r>
            <a:endParaRPr lang="en-US" sz="1400" dirty="0"/>
          </a:p>
        </p:txBody>
      </p:sp>
      <p:sp>
        <p:nvSpPr>
          <p:cNvPr id="13" name="Shape 9"/>
          <p:cNvSpPr/>
          <p:nvPr/>
        </p:nvSpPr>
        <p:spPr>
          <a:xfrm>
            <a:off x="7995682" y="2883536"/>
            <a:ext cx="3380343" cy="1934210"/>
          </a:xfrm>
          <a:prstGeom prst="roundRect">
            <a:avLst>
              <a:gd name="adj" fmla="val 5089"/>
            </a:avLst>
          </a:prstGeom>
          <a:solidFill>
            <a:srgbClr val="FFFDF8"/>
          </a:solidFill>
          <a:ln w="6350">
            <a:solidFill>
              <a:srgbClr val="E2DDD0"/>
            </a:solidFill>
            <a:prstDash val="solid"/>
          </a:ln>
        </p:spPr>
      </p:sp>
      <p:pic>
        <p:nvPicPr>
          <p:cNvPr id="14" name="Image 2" descr="Users"/>
          <p:cNvPicPr>
            <a:picLocks noChangeAspect="1"/>
          </p:cNvPicPr>
          <p:nvPr/>
        </p:nvPicPr>
        <p:blipFill>
          <a:blip r:embed="rId5"/>
          <a:srcRect/>
          <a:stretch/>
        </p:blipFill>
        <p:spPr>
          <a:xfrm>
            <a:off x="8226187" y="3114039"/>
            <a:ext cx="304800" cy="304800"/>
          </a:xfrm>
          <a:prstGeom prst="rect">
            <a:avLst/>
          </a:prstGeom>
        </p:spPr>
      </p:pic>
      <p:sp>
        <p:nvSpPr>
          <p:cNvPr id="15" name="Text 10"/>
          <p:cNvSpPr/>
          <p:nvPr/>
        </p:nvSpPr>
        <p:spPr>
          <a:xfrm>
            <a:off x="8226187" y="3507739"/>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Teamwork</a:t>
            </a:r>
            <a:endParaRPr lang="en-US" sz="1600" dirty="0"/>
          </a:p>
        </p:txBody>
      </p:sp>
      <p:sp>
        <p:nvSpPr>
          <p:cNvPr id="16" name="Text 11"/>
          <p:cNvSpPr/>
          <p:nvPr/>
        </p:nvSpPr>
        <p:spPr>
          <a:xfrm>
            <a:off x="8226187" y="3840482"/>
            <a:ext cx="300691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Many people can work on the same project without overwriting each other.</a:t>
            </a:r>
            <a:endParaRPr lang="en-US" sz="1400" dirty="0"/>
          </a:p>
        </p:txBody>
      </p:sp>
      <p:sp>
        <p:nvSpPr>
          <p:cNvPr id="17" name="Text 12"/>
          <p:cNvSpPr/>
          <p:nvPr/>
        </p:nvSpPr>
        <p:spPr>
          <a:xfrm>
            <a:off x="812800" y="6238239"/>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8" name="Text 13"/>
          <p:cNvSpPr/>
          <p:nvPr/>
        </p:nvSpPr>
        <p:spPr>
          <a:xfrm>
            <a:off x="11287760" y="6238239"/>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CLEARING UP CONFUSION</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Git is not GitHub</a:t>
            </a:r>
            <a:endParaRPr lang="en-US" sz="3600" dirty="0"/>
          </a:p>
        </p:txBody>
      </p:sp>
      <p:sp>
        <p:nvSpPr>
          <p:cNvPr id="4" name="Shape 2"/>
          <p:cNvSpPr/>
          <p:nvPr/>
        </p:nvSpPr>
        <p:spPr>
          <a:xfrm>
            <a:off x="815975" y="1938657"/>
            <a:ext cx="5149850" cy="2183130"/>
          </a:xfrm>
          <a:prstGeom prst="roundRect">
            <a:avLst>
              <a:gd name="adj" fmla="val 4508"/>
            </a:avLst>
          </a:prstGeom>
          <a:solidFill>
            <a:srgbClr val="FFFDF8"/>
          </a:solidFill>
          <a:ln w="6350">
            <a:solidFill>
              <a:srgbClr val="E2DDD0"/>
            </a:solidFill>
            <a:prstDash val="solid"/>
          </a:ln>
        </p:spPr>
      </p:sp>
      <p:pic>
        <p:nvPicPr>
          <p:cNvPr id="5" name="Image 0" descr="Code"/>
          <p:cNvPicPr>
            <a:picLocks noChangeAspect="1"/>
          </p:cNvPicPr>
          <p:nvPr/>
        </p:nvPicPr>
        <p:blipFill>
          <a:blip r:embed="rId3"/>
          <a:srcRect/>
          <a:stretch/>
        </p:blipFill>
        <p:spPr>
          <a:xfrm>
            <a:off x="1046480" y="2169161"/>
            <a:ext cx="304800" cy="304800"/>
          </a:xfrm>
          <a:prstGeom prst="rect">
            <a:avLst/>
          </a:prstGeom>
        </p:spPr>
      </p:pic>
      <p:sp>
        <p:nvSpPr>
          <p:cNvPr id="6" name="Text 3"/>
          <p:cNvSpPr/>
          <p:nvPr/>
        </p:nvSpPr>
        <p:spPr>
          <a:xfrm>
            <a:off x="1046480" y="2562861"/>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Git</a:t>
            </a:r>
            <a:endParaRPr lang="en-US" sz="1600" dirty="0"/>
          </a:p>
        </p:txBody>
      </p:sp>
      <p:sp>
        <p:nvSpPr>
          <p:cNvPr id="7" name="Text 4"/>
          <p:cNvSpPr/>
          <p:nvPr/>
        </p:nvSpPr>
        <p:spPr>
          <a:xfrm>
            <a:off x="1046480" y="2895600"/>
            <a:ext cx="4829505"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A </a:t>
            </a:r>
            <a:r>
              <a:rPr lang="en-US" sz="1400" b="1" dirty="0">
                <a:solidFill>
                  <a:srgbClr val="4A4F5C"/>
                </a:solidFill>
                <a:latin typeface="IBM Plex Sans" pitchFamily="34" charset="0"/>
                <a:ea typeface="IBM Plex Sans" pitchFamily="34" charset="-122"/>
                <a:cs typeface="IBM Plex Sans" pitchFamily="34" charset="-120"/>
              </a:rPr>
              <a:t>tool</a:t>
            </a:r>
            <a:r>
              <a:rPr lang="en-US" sz="1400" dirty="0">
                <a:solidFill>
                  <a:srgbClr val="4A4F5C"/>
                </a:solidFill>
                <a:latin typeface="IBM Plex Sans" pitchFamily="34" charset="0"/>
                <a:ea typeface="IBM Plex Sans" pitchFamily="34" charset="-122"/>
                <a:cs typeface="IBM Plex Sans" pitchFamily="34" charset="-120"/>
              </a:rPr>
              <a:t> installed on your computer.</a:t>
            </a:r>
            <a:endParaRPr lang="en-US" sz="1400" dirty="0"/>
          </a:p>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Tracks changes in a folder.</a:t>
            </a:r>
            <a:endParaRPr lang="en-US" sz="1400" dirty="0"/>
          </a:p>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Works offline. Free and open source.</a:t>
            </a:r>
            <a:endParaRPr lang="en-US" sz="1400" dirty="0"/>
          </a:p>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Created in 2005 by Linus Torvalds.</a:t>
            </a:r>
            <a:endParaRPr lang="en-US" sz="1400" dirty="0"/>
          </a:p>
        </p:txBody>
      </p:sp>
      <p:sp>
        <p:nvSpPr>
          <p:cNvPr id="8" name="Shape 5"/>
          <p:cNvSpPr/>
          <p:nvPr/>
        </p:nvSpPr>
        <p:spPr>
          <a:xfrm>
            <a:off x="6226175" y="1938657"/>
            <a:ext cx="5149850" cy="2183130"/>
          </a:xfrm>
          <a:prstGeom prst="roundRect">
            <a:avLst>
              <a:gd name="adj" fmla="val 4508"/>
            </a:avLst>
          </a:prstGeom>
          <a:solidFill>
            <a:srgbClr val="FFFDF8"/>
          </a:solidFill>
          <a:ln w="6350">
            <a:solidFill>
              <a:srgbClr val="E2DDD0"/>
            </a:solidFill>
            <a:prstDash val="solid"/>
          </a:ln>
        </p:spPr>
      </p:sp>
      <p:pic>
        <p:nvPicPr>
          <p:cNvPr id="9" name="Image 1" descr="Globe"/>
          <p:cNvPicPr>
            <a:picLocks noChangeAspect="1"/>
          </p:cNvPicPr>
          <p:nvPr/>
        </p:nvPicPr>
        <p:blipFill>
          <a:blip r:embed="rId4"/>
          <a:srcRect/>
          <a:stretch/>
        </p:blipFill>
        <p:spPr>
          <a:xfrm>
            <a:off x="6456680" y="2169161"/>
            <a:ext cx="304800" cy="304800"/>
          </a:xfrm>
          <a:prstGeom prst="rect">
            <a:avLst/>
          </a:prstGeom>
        </p:spPr>
      </p:pic>
      <p:sp>
        <p:nvSpPr>
          <p:cNvPr id="10" name="Text 6"/>
          <p:cNvSpPr/>
          <p:nvPr/>
        </p:nvSpPr>
        <p:spPr>
          <a:xfrm>
            <a:off x="6456680" y="2562861"/>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GitHub</a:t>
            </a:r>
            <a:endParaRPr lang="en-US" sz="1600" dirty="0"/>
          </a:p>
        </p:txBody>
      </p:sp>
      <p:sp>
        <p:nvSpPr>
          <p:cNvPr id="11" name="Text 7"/>
          <p:cNvSpPr/>
          <p:nvPr/>
        </p:nvSpPr>
        <p:spPr>
          <a:xfrm>
            <a:off x="6456680" y="2895600"/>
            <a:ext cx="4829505"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A </a:t>
            </a:r>
            <a:r>
              <a:rPr lang="en-US" sz="1400" b="1" dirty="0">
                <a:solidFill>
                  <a:srgbClr val="4A4F5C"/>
                </a:solidFill>
                <a:latin typeface="IBM Plex Sans" pitchFamily="34" charset="0"/>
                <a:ea typeface="IBM Plex Sans" pitchFamily="34" charset="-122"/>
                <a:cs typeface="IBM Plex Sans" pitchFamily="34" charset="-120"/>
              </a:rPr>
              <a:t>website</a:t>
            </a:r>
            <a:r>
              <a:rPr lang="en-US" sz="1400" dirty="0">
                <a:solidFill>
                  <a:srgbClr val="4A4F5C"/>
                </a:solidFill>
                <a:latin typeface="IBM Plex Sans" pitchFamily="34" charset="0"/>
                <a:ea typeface="IBM Plex Sans" pitchFamily="34" charset="-122"/>
                <a:cs typeface="IBM Plex Sans" pitchFamily="34" charset="-120"/>
              </a:rPr>
              <a:t> that stores Git projects online.</a:t>
            </a:r>
            <a:endParaRPr lang="en-US" sz="1400" dirty="0"/>
          </a:p>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Adds sharing, backups and teamwork: pull requests, issues, reviews.</a:t>
            </a:r>
            <a:endParaRPr lang="en-US" sz="1400" dirty="0"/>
          </a:p>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Similar sites: GitLab, Bitbucket.</a:t>
            </a:r>
            <a:endParaRPr lang="en-US" sz="1400" dirty="0"/>
          </a:p>
        </p:txBody>
      </p:sp>
      <p:sp>
        <p:nvSpPr>
          <p:cNvPr id="12" name="Text 8"/>
          <p:cNvSpPr/>
          <p:nvPr/>
        </p:nvSpPr>
        <p:spPr>
          <a:xfrm>
            <a:off x="812800" y="442976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Analogy: </a:t>
            </a:r>
            <a:r>
              <a:rPr lang="en-US" sz="1600" b="1" dirty="0">
                <a:solidFill>
                  <a:srgbClr val="1B1F2A"/>
                </a:solidFill>
                <a:latin typeface="IBM Plex Sans" pitchFamily="34" charset="0"/>
                <a:ea typeface="IBM Plex Sans" pitchFamily="34" charset="-122"/>
                <a:cs typeface="IBM Plex Sans" pitchFamily="34" charset="-120"/>
              </a:rPr>
              <a:t>Git is the camera</a:t>
            </a:r>
            <a:r>
              <a:rPr lang="en-US" sz="1600" dirty="0">
                <a:solidFill>
                  <a:srgbClr val="1B1F2A"/>
                </a:solidFill>
                <a:latin typeface="IBM Plex Sans" pitchFamily="34" charset="0"/>
                <a:ea typeface="IBM Plex Sans" pitchFamily="34" charset="-122"/>
                <a:cs typeface="IBM Plex Sans" pitchFamily="34" charset="-120"/>
              </a:rPr>
              <a:t> that takes the snapshots. </a:t>
            </a:r>
            <a:r>
              <a:rPr lang="en-US" sz="1600" b="1" dirty="0">
                <a:solidFill>
                  <a:srgbClr val="1B1F2A"/>
                </a:solidFill>
                <a:latin typeface="IBM Plex Sans" pitchFamily="34" charset="0"/>
                <a:ea typeface="IBM Plex Sans" pitchFamily="34" charset="-122"/>
                <a:cs typeface="IBM Plex Sans" pitchFamily="34" charset="-120"/>
              </a:rPr>
              <a:t>GitHub is the online album</a:t>
            </a:r>
            <a:r>
              <a:rPr lang="en-US" sz="1600" dirty="0">
                <a:solidFill>
                  <a:srgbClr val="1B1F2A"/>
                </a:solidFill>
                <a:latin typeface="IBM Plex Sans" pitchFamily="34" charset="0"/>
                <a:ea typeface="IBM Plex Sans" pitchFamily="34" charset="-122"/>
                <a:cs typeface="IBM Plex Sans" pitchFamily="34" charset="-120"/>
              </a:rPr>
              <a:t> where you share them.</a:t>
            </a:r>
            <a:endParaRPr lang="en-US" sz="1600" dirty="0"/>
          </a:p>
        </p:txBody>
      </p:sp>
      <p:sp>
        <p:nvSpPr>
          <p:cNvPr id="13" name="Text 9"/>
          <p:cNvSpPr/>
          <p:nvPr/>
        </p:nvSpPr>
        <p:spPr>
          <a:xfrm>
            <a:off x="812800" y="6238239"/>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4" name="Text 10"/>
          <p:cNvSpPr/>
          <p:nvPr/>
        </p:nvSpPr>
        <p:spPr>
          <a:xfrm>
            <a:off x="11287760" y="6238239"/>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B1F2A"/>
        </a:solidFill>
        <a:effectLst/>
      </p:bgPr>
    </p:bg>
    <p:spTree>
      <p:nvGrpSpPr>
        <p:cNvPr id="1" name=""/>
        <p:cNvGrpSpPr/>
        <p:nvPr/>
      </p:nvGrpSpPr>
      <p:grpSpPr>
        <a:xfrm>
          <a:off x="0" y="0"/>
          <a:ext cx="0" cy="0"/>
          <a:chOff x="0" y="0"/>
          <a:chExt cx="0" cy="0"/>
        </a:xfrm>
      </p:grpSpPr>
      <p:sp>
        <p:nvSpPr>
          <p:cNvPr id="2" name="Text 0"/>
          <p:cNvSpPr/>
          <p:nvPr/>
        </p:nvSpPr>
        <p:spPr>
          <a:xfrm>
            <a:off x="812800" y="1973582"/>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7894F"/>
                </a:solidFill>
                <a:latin typeface="Space Grotesk" pitchFamily="34" charset="0"/>
                <a:ea typeface="Space Grotesk" pitchFamily="34" charset="-122"/>
                <a:cs typeface="Space Grotesk" pitchFamily="34" charset="-120"/>
              </a:rPr>
              <a:t>02</a:t>
            </a:r>
            <a:endParaRPr lang="en-US" sz="6000" dirty="0"/>
          </a:p>
        </p:txBody>
      </p:sp>
      <p:sp>
        <p:nvSpPr>
          <p:cNvPr id="3" name="Text 1"/>
          <p:cNvSpPr/>
          <p:nvPr/>
        </p:nvSpPr>
        <p:spPr>
          <a:xfrm>
            <a:off x="812800" y="2938782"/>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F"/>
                </a:solidFill>
                <a:latin typeface="Space Grotesk" pitchFamily="34" charset="0"/>
                <a:ea typeface="Space Grotesk" pitchFamily="34" charset="-122"/>
                <a:cs typeface="Space Grotesk" pitchFamily="34" charset="-120"/>
              </a:rPr>
              <a:t>Core ideas</a:t>
            </a:r>
            <a:endParaRPr lang="en-US" sz="6000" dirty="0"/>
          </a:p>
        </p:txBody>
      </p:sp>
      <p:sp>
        <p:nvSpPr>
          <p:cNvPr id="4" name="Text 2"/>
          <p:cNvSpPr/>
          <p:nvPr/>
        </p:nvSpPr>
        <p:spPr>
          <a:xfrm>
            <a:off x="812800" y="3942082"/>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Repositories, commits and the staging area</a:t>
            </a:r>
            <a:endParaRPr lang="en-US" sz="2200" dirty="0"/>
          </a:p>
        </p:txBody>
      </p:sp>
      <p:sp>
        <p:nvSpPr>
          <p:cNvPr id="5" name="Text 3"/>
          <p:cNvSpPr/>
          <p:nvPr/>
        </p:nvSpPr>
        <p:spPr>
          <a:xfrm>
            <a:off x="812800" y="4508500"/>
            <a:ext cx="2022554" cy="375920"/>
          </a:xfrm>
          <a:prstGeom prst="roundRect">
            <a:avLst>
              <a:gd name="adj" fmla="val 50000"/>
            </a:avLst>
          </a:prstGeom>
          <a:solidFill>
            <a:srgbClr val="F7894F"/>
          </a:solidFill>
          <a:ln/>
        </p:spPr>
        <p:txBody>
          <a:bodyPr wrap="none" lIns="0" tIns="0" rIns="0" bIns="0" rtlCol="0" anchor="ctr">
            <a:normAutofit/>
          </a:bodyPr>
          <a:lstStyle/>
          <a:p>
            <a:pPr marL="0" indent="0" algn="ct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 About 10 minutes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IDEA 1</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A commit is a save point</a:t>
            </a:r>
            <a:endParaRPr lang="en-US" sz="3600" dirty="0"/>
          </a:p>
        </p:txBody>
      </p:sp>
      <p:sp>
        <p:nvSpPr>
          <p:cNvPr id="4" name="Text 2"/>
          <p:cNvSpPr/>
          <p:nvPr/>
        </p:nvSpPr>
        <p:spPr>
          <a:xfrm>
            <a:off x="812800" y="1935482"/>
            <a:ext cx="10883392"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B1F2A"/>
                </a:solidFill>
                <a:latin typeface="IBM Plex Sans" pitchFamily="34" charset="0"/>
                <a:ea typeface="IBM Plex Sans" pitchFamily="34" charset="-122"/>
                <a:cs typeface="IBM Plex Sans" pitchFamily="34" charset="-120"/>
              </a:rPr>
              <a:t>Like a checkpoint in a video game: a </a:t>
            </a:r>
            <a:r>
              <a:rPr lang="en-US" sz="1800" b="1" dirty="0">
                <a:solidFill>
                  <a:srgbClr val="1B1F2A"/>
                </a:solidFill>
                <a:latin typeface="IBM Plex Sans" pitchFamily="34" charset="0"/>
                <a:ea typeface="IBM Plex Sans" pitchFamily="34" charset="-122"/>
                <a:cs typeface="IBM Plex Sans" pitchFamily="34" charset="-120"/>
              </a:rPr>
              <a:t>snapshot of your whole project</a:t>
            </a:r>
            <a:r>
              <a:rPr lang="en-US" sz="1800" dirty="0">
                <a:solidFill>
                  <a:srgbClr val="1B1F2A"/>
                </a:solidFill>
                <a:latin typeface="IBM Plex Sans" pitchFamily="34" charset="0"/>
                <a:ea typeface="IBM Plex Sans" pitchFamily="34" charset="-122"/>
                <a:cs typeface="IBM Plex Sans" pitchFamily="34" charset="-120"/>
              </a:rPr>
              <a:t> at one moment, with a short message describing what changed.</a:t>
            </a:r>
            <a:endParaRPr lang="en-US" sz="1800" dirty="0"/>
          </a:p>
        </p:txBody>
      </p:sp>
      <p:sp>
        <p:nvSpPr>
          <p:cNvPr id="5" name="Shape 3"/>
          <p:cNvSpPr/>
          <p:nvPr/>
        </p:nvSpPr>
        <p:spPr>
          <a:xfrm>
            <a:off x="815975" y="2883536"/>
            <a:ext cx="2368550" cy="876300"/>
          </a:xfrm>
          <a:prstGeom prst="roundRect">
            <a:avLst>
              <a:gd name="adj" fmla="val 11232"/>
            </a:avLst>
          </a:prstGeom>
          <a:solidFill>
            <a:srgbClr val="FFFDF8"/>
          </a:solidFill>
          <a:ln w="6350">
            <a:solidFill>
              <a:srgbClr val="E2DDD0"/>
            </a:solidFill>
            <a:prstDash val="solid"/>
          </a:ln>
        </p:spPr>
      </p:sp>
      <p:sp>
        <p:nvSpPr>
          <p:cNvPr id="6" name="Text 4"/>
          <p:cNvSpPr/>
          <p:nvPr/>
        </p:nvSpPr>
        <p:spPr>
          <a:xfrm>
            <a:off x="995680" y="3063239"/>
            <a:ext cx="20694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JetBrains Mono" pitchFamily="34" charset="0"/>
                <a:ea typeface="JetBrains Mono" pitchFamily="34" charset="-122"/>
                <a:cs typeface="JetBrains Mono" pitchFamily="34" charset="-120"/>
              </a:rPr>
              <a:t>a1f3c9e</a:t>
            </a:r>
            <a:endParaRPr lang="en-US" sz="1200" dirty="0"/>
          </a:p>
        </p:txBody>
      </p:sp>
      <p:sp>
        <p:nvSpPr>
          <p:cNvPr id="7" name="Text 5"/>
          <p:cNvSpPr/>
          <p:nvPr/>
        </p:nvSpPr>
        <p:spPr>
          <a:xfrm>
            <a:off x="995680" y="3340100"/>
            <a:ext cx="206941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1F2A"/>
                </a:solidFill>
                <a:latin typeface="IBM Plex Sans" pitchFamily="34" charset="0"/>
                <a:ea typeface="IBM Plex Sans" pitchFamily="34" charset="-122"/>
                <a:cs typeface="IBM Plex Sans" pitchFamily="34" charset="-120"/>
              </a:rPr>
              <a:t>Create homepage</a:t>
            </a:r>
            <a:endParaRPr lang="en-US" sz="1400" dirty="0"/>
          </a:p>
        </p:txBody>
      </p:sp>
      <p:pic>
        <p:nvPicPr>
          <p:cNvPr id="8" name="Image 0" descr="connector"/>
          <p:cNvPicPr>
            <a:picLocks noChangeAspect="1"/>
          </p:cNvPicPr>
          <p:nvPr/>
        </p:nvPicPr>
        <p:blipFill>
          <a:blip r:embed="rId3"/>
          <a:srcRect/>
          <a:stretch/>
        </p:blipFill>
        <p:spPr>
          <a:xfrm>
            <a:off x="3187700" y="3258186"/>
            <a:ext cx="355600" cy="127000"/>
          </a:xfrm>
          <a:prstGeom prst="rect">
            <a:avLst/>
          </a:prstGeom>
        </p:spPr>
      </p:pic>
      <p:sp>
        <p:nvSpPr>
          <p:cNvPr id="9" name="Shape 6"/>
          <p:cNvSpPr/>
          <p:nvPr/>
        </p:nvSpPr>
        <p:spPr>
          <a:xfrm>
            <a:off x="3546475" y="2883536"/>
            <a:ext cx="2368550" cy="876300"/>
          </a:xfrm>
          <a:prstGeom prst="roundRect">
            <a:avLst>
              <a:gd name="adj" fmla="val 11232"/>
            </a:avLst>
          </a:prstGeom>
          <a:solidFill>
            <a:srgbClr val="FFFDF8"/>
          </a:solidFill>
          <a:ln w="6350">
            <a:solidFill>
              <a:srgbClr val="E2DDD0"/>
            </a:solidFill>
            <a:prstDash val="solid"/>
          </a:ln>
        </p:spPr>
      </p:sp>
      <p:sp>
        <p:nvSpPr>
          <p:cNvPr id="10" name="Text 7"/>
          <p:cNvSpPr/>
          <p:nvPr/>
        </p:nvSpPr>
        <p:spPr>
          <a:xfrm>
            <a:off x="3726180" y="3063239"/>
            <a:ext cx="20694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JetBrains Mono" pitchFamily="34" charset="0"/>
                <a:ea typeface="JetBrains Mono" pitchFamily="34" charset="-122"/>
                <a:cs typeface="JetBrains Mono" pitchFamily="34" charset="-120"/>
              </a:rPr>
              <a:t>7b2d410</a:t>
            </a:r>
            <a:endParaRPr lang="en-US" sz="1200" dirty="0"/>
          </a:p>
        </p:txBody>
      </p:sp>
      <p:sp>
        <p:nvSpPr>
          <p:cNvPr id="11" name="Text 8"/>
          <p:cNvSpPr/>
          <p:nvPr/>
        </p:nvSpPr>
        <p:spPr>
          <a:xfrm>
            <a:off x="3726180" y="3340100"/>
            <a:ext cx="206941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1F2A"/>
                </a:solidFill>
                <a:latin typeface="IBM Plex Sans" pitchFamily="34" charset="0"/>
                <a:ea typeface="IBM Plex Sans" pitchFamily="34" charset="-122"/>
                <a:cs typeface="IBM Plex Sans" pitchFamily="34" charset="-120"/>
              </a:rPr>
              <a:t>Add about page</a:t>
            </a:r>
            <a:endParaRPr lang="en-US" sz="1400" dirty="0"/>
          </a:p>
        </p:txBody>
      </p:sp>
      <p:pic>
        <p:nvPicPr>
          <p:cNvPr id="12" name="Image 1" descr="connector"/>
          <p:cNvPicPr>
            <a:picLocks noChangeAspect="1"/>
          </p:cNvPicPr>
          <p:nvPr/>
        </p:nvPicPr>
        <p:blipFill>
          <a:blip r:embed="rId3"/>
          <a:srcRect/>
          <a:stretch/>
        </p:blipFill>
        <p:spPr>
          <a:xfrm>
            <a:off x="5918200" y="3258186"/>
            <a:ext cx="355600" cy="127000"/>
          </a:xfrm>
          <a:prstGeom prst="rect">
            <a:avLst/>
          </a:prstGeom>
        </p:spPr>
      </p:pic>
      <p:sp>
        <p:nvSpPr>
          <p:cNvPr id="13" name="Shape 9"/>
          <p:cNvSpPr/>
          <p:nvPr/>
        </p:nvSpPr>
        <p:spPr>
          <a:xfrm>
            <a:off x="6276975" y="2883536"/>
            <a:ext cx="2368550" cy="876300"/>
          </a:xfrm>
          <a:prstGeom prst="roundRect">
            <a:avLst>
              <a:gd name="adj" fmla="val 11232"/>
            </a:avLst>
          </a:prstGeom>
          <a:solidFill>
            <a:srgbClr val="FFFDF8"/>
          </a:solidFill>
          <a:ln w="6350">
            <a:solidFill>
              <a:srgbClr val="E2DDD0"/>
            </a:solidFill>
            <a:prstDash val="solid"/>
          </a:ln>
        </p:spPr>
      </p:sp>
      <p:sp>
        <p:nvSpPr>
          <p:cNvPr id="14" name="Text 10"/>
          <p:cNvSpPr/>
          <p:nvPr/>
        </p:nvSpPr>
        <p:spPr>
          <a:xfrm>
            <a:off x="6456680" y="3063239"/>
            <a:ext cx="20694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JetBrains Mono" pitchFamily="34" charset="0"/>
                <a:ea typeface="JetBrains Mono" pitchFamily="34" charset="-122"/>
                <a:cs typeface="JetBrains Mono" pitchFamily="34" charset="-120"/>
              </a:rPr>
              <a:t>c94e2aa</a:t>
            </a:r>
            <a:endParaRPr lang="en-US" sz="1200" dirty="0"/>
          </a:p>
        </p:txBody>
      </p:sp>
      <p:sp>
        <p:nvSpPr>
          <p:cNvPr id="15" name="Text 11"/>
          <p:cNvSpPr/>
          <p:nvPr/>
        </p:nvSpPr>
        <p:spPr>
          <a:xfrm>
            <a:off x="6456680" y="3340100"/>
            <a:ext cx="206941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1F2A"/>
                </a:solidFill>
                <a:latin typeface="IBM Plex Sans" pitchFamily="34" charset="0"/>
                <a:ea typeface="IBM Plex Sans" pitchFamily="34" charset="-122"/>
                <a:cs typeface="IBM Plex Sans" pitchFamily="34" charset="-120"/>
              </a:rPr>
              <a:t>Fix broken link</a:t>
            </a:r>
            <a:endParaRPr lang="en-US" sz="1400" dirty="0"/>
          </a:p>
        </p:txBody>
      </p:sp>
      <p:pic>
        <p:nvPicPr>
          <p:cNvPr id="16" name="Image 2" descr="connector"/>
          <p:cNvPicPr>
            <a:picLocks noChangeAspect="1"/>
          </p:cNvPicPr>
          <p:nvPr/>
        </p:nvPicPr>
        <p:blipFill>
          <a:blip r:embed="rId3"/>
          <a:srcRect/>
          <a:stretch/>
        </p:blipFill>
        <p:spPr>
          <a:xfrm>
            <a:off x="8648700" y="3258186"/>
            <a:ext cx="355600" cy="127000"/>
          </a:xfrm>
          <a:prstGeom prst="rect">
            <a:avLst/>
          </a:prstGeom>
        </p:spPr>
      </p:pic>
      <p:sp>
        <p:nvSpPr>
          <p:cNvPr id="17" name="Shape 12"/>
          <p:cNvSpPr/>
          <p:nvPr/>
        </p:nvSpPr>
        <p:spPr>
          <a:xfrm>
            <a:off x="9007475" y="2883536"/>
            <a:ext cx="2368550" cy="876300"/>
          </a:xfrm>
          <a:prstGeom prst="roundRect">
            <a:avLst>
              <a:gd name="adj" fmla="val 11232"/>
            </a:avLst>
          </a:prstGeom>
          <a:solidFill>
            <a:srgbClr val="FFFDF8"/>
          </a:solidFill>
          <a:ln w="6350">
            <a:solidFill>
              <a:srgbClr val="E2DDD0"/>
            </a:solidFill>
            <a:prstDash val="solid"/>
          </a:ln>
        </p:spPr>
      </p:sp>
      <p:sp>
        <p:nvSpPr>
          <p:cNvPr id="18" name="Text 13"/>
          <p:cNvSpPr/>
          <p:nvPr/>
        </p:nvSpPr>
        <p:spPr>
          <a:xfrm>
            <a:off x="9187180" y="3063239"/>
            <a:ext cx="20694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JetBrains Mono" pitchFamily="34" charset="0"/>
                <a:ea typeface="JetBrains Mono" pitchFamily="34" charset="-122"/>
                <a:cs typeface="JetBrains Mono" pitchFamily="34" charset="-120"/>
              </a:rPr>
              <a:t>e05b7f1</a:t>
            </a:r>
            <a:endParaRPr lang="en-US" sz="1200" dirty="0"/>
          </a:p>
        </p:txBody>
      </p:sp>
      <p:sp>
        <p:nvSpPr>
          <p:cNvPr id="19" name="Text 14"/>
          <p:cNvSpPr/>
          <p:nvPr/>
        </p:nvSpPr>
        <p:spPr>
          <a:xfrm>
            <a:off x="9187180" y="3340100"/>
            <a:ext cx="206941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1F2A"/>
                </a:solidFill>
                <a:latin typeface="IBM Plex Sans" pitchFamily="34" charset="0"/>
                <a:ea typeface="IBM Plex Sans" pitchFamily="34" charset="-122"/>
                <a:cs typeface="IBM Plex Sans" pitchFamily="34" charset="-120"/>
              </a:rPr>
              <a:t>Add contact form</a:t>
            </a:r>
            <a:endParaRPr lang="en-US" sz="1400" dirty="0"/>
          </a:p>
        </p:txBody>
      </p:sp>
      <p:sp>
        <p:nvSpPr>
          <p:cNvPr id="20" name="Text 15"/>
          <p:cNvSpPr/>
          <p:nvPr/>
        </p:nvSpPr>
        <p:spPr>
          <a:xfrm>
            <a:off x="812800" y="406781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66B78"/>
                </a:solidFill>
                <a:latin typeface="IBM Plex Sans" pitchFamily="34" charset="0"/>
                <a:ea typeface="IBM Plex Sans" pitchFamily="34" charset="-122"/>
                <a:cs typeface="IBM Plex Sans" pitchFamily="34" charset="-120"/>
              </a:rPr>
              <a:t>Time flows left to right → each commit builds on the one before.</a:t>
            </a:r>
            <a:endParaRPr lang="en-US" sz="1400" dirty="0"/>
          </a:p>
        </p:txBody>
      </p:sp>
      <p:sp>
        <p:nvSpPr>
          <p:cNvPr id="21" name="Text 16"/>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2" name="Text 17"/>
          <p:cNvSpPr/>
          <p:nvPr/>
        </p:nvSpPr>
        <p:spPr>
          <a:xfrm>
            <a:off x="11287760" y="6238242"/>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IDEA 2</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Three places your changes live</a:t>
            </a:r>
            <a:endParaRPr lang="en-US" sz="3600" dirty="0"/>
          </a:p>
        </p:txBody>
      </p:sp>
      <p:sp>
        <p:nvSpPr>
          <p:cNvPr id="4" name="Shape 2"/>
          <p:cNvSpPr/>
          <p:nvPr/>
        </p:nvSpPr>
        <p:spPr>
          <a:xfrm>
            <a:off x="815975" y="1938654"/>
            <a:ext cx="2711450" cy="2015490"/>
          </a:xfrm>
          <a:prstGeom prst="roundRect">
            <a:avLst>
              <a:gd name="adj" fmla="val 4883"/>
            </a:avLst>
          </a:prstGeom>
          <a:solidFill>
            <a:srgbClr val="FFFDF8"/>
          </a:solidFill>
          <a:ln w="6350">
            <a:solidFill>
              <a:srgbClr val="E2DDD0"/>
            </a:solidFill>
            <a:prstDash val="solid"/>
          </a:ln>
        </p:spPr>
      </p:sp>
      <p:pic>
        <p:nvPicPr>
          <p:cNvPr id="5" name="Image 0" descr="Wrench"/>
          <p:cNvPicPr>
            <a:picLocks noChangeAspect="1"/>
          </p:cNvPicPr>
          <p:nvPr/>
        </p:nvPicPr>
        <p:blipFill>
          <a:blip r:embed="rId3"/>
          <a:srcRect/>
          <a:stretch/>
        </p:blipFill>
        <p:spPr>
          <a:xfrm>
            <a:off x="1046480" y="2169164"/>
            <a:ext cx="355600" cy="355600"/>
          </a:xfrm>
          <a:prstGeom prst="rect">
            <a:avLst/>
          </a:prstGeom>
        </p:spPr>
      </p:pic>
      <p:sp>
        <p:nvSpPr>
          <p:cNvPr id="6" name="Text 3"/>
          <p:cNvSpPr/>
          <p:nvPr/>
        </p:nvSpPr>
        <p:spPr>
          <a:xfrm>
            <a:off x="1046480" y="2613664"/>
            <a:ext cx="231795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F2A"/>
                </a:solidFill>
                <a:latin typeface="Space Grotesk" pitchFamily="34" charset="0"/>
                <a:ea typeface="Space Grotesk" pitchFamily="34" charset="-122"/>
                <a:cs typeface="Space Grotesk" pitchFamily="34" charset="-120"/>
              </a:rPr>
              <a:t>Working folder</a:t>
            </a:r>
            <a:endParaRPr lang="en-US" sz="1800" dirty="0"/>
          </a:p>
        </p:txBody>
      </p:sp>
      <p:sp>
        <p:nvSpPr>
          <p:cNvPr id="7" name="Text 4"/>
          <p:cNvSpPr/>
          <p:nvPr/>
        </p:nvSpPr>
        <p:spPr>
          <a:xfrm>
            <a:off x="1046480" y="2976879"/>
            <a:ext cx="231795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Your desk. The files you are editing right now.</a:t>
            </a:r>
            <a:endParaRPr lang="en-US" sz="1400" dirty="0"/>
          </a:p>
        </p:txBody>
      </p:sp>
      <p:sp>
        <p:nvSpPr>
          <p:cNvPr id="8" name="Text 5"/>
          <p:cNvSpPr/>
          <p:nvPr/>
        </p:nvSpPr>
        <p:spPr>
          <a:xfrm>
            <a:off x="3787140" y="2729229"/>
            <a:ext cx="74422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2410C"/>
                </a:solidFill>
                <a:latin typeface="JetBrains Mono" pitchFamily="34" charset="0"/>
                <a:ea typeface="JetBrains Mono" pitchFamily="34" charset="-122"/>
                <a:cs typeface="JetBrains Mono" pitchFamily="34" charset="-120"/>
              </a:rPr>
              <a:t>git add</a:t>
            </a:r>
            <a:endParaRPr lang="en-US" sz="1300" dirty="0"/>
          </a:p>
        </p:txBody>
      </p:sp>
      <p:pic>
        <p:nvPicPr>
          <p:cNvPr id="9" name="Image 1" descr="connector"/>
          <p:cNvPicPr>
            <a:picLocks noChangeAspect="1"/>
          </p:cNvPicPr>
          <p:nvPr/>
        </p:nvPicPr>
        <p:blipFill>
          <a:blip r:embed="rId4"/>
          <a:srcRect/>
          <a:stretch/>
        </p:blipFill>
        <p:spPr>
          <a:xfrm>
            <a:off x="3657600" y="3011171"/>
            <a:ext cx="952500" cy="152400"/>
          </a:xfrm>
          <a:prstGeom prst="rect">
            <a:avLst/>
          </a:prstGeom>
        </p:spPr>
      </p:pic>
      <p:sp>
        <p:nvSpPr>
          <p:cNvPr id="10" name="Shape 6"/>
          <p:cNvSpPr/>
          <p:nvPr/>
        </p:nvSpPr>
        <p:spPr>
          <a:xfrm>
            <a:off x="4740275" y="1938654"/>
            <a:ext cx="2711450" cy="2015490"/>
          </a:xfrm>
          <a:prstGeom prst="roundRect">
            <a:avLst>
              <a:gd name="adj" fmla="val 4883"/>
            </a:avLst>
          </a:prstGeom>
          <a:solidFill>
            <a:srgbClr val="FFFDF8"/>
          </a:solidFill>
          <a:ln w="6350">
            <a:solidFill>
              <a:srgbClr val="E2DDD0"/>
            </a:solidFill>
            <a:prstDash val="solid"/>
          </a:ln>
        </p:spPr>
      </p:sp>
      <p:pic>
        <p:nvPicPr>
          <p:cNvPr id="11" name="Image 2" descr="Check"/>
          <p:cNvPicPr>
            <a:picLocks noChangeAspect="1"/>
          </p:cNvPicPr>
          <p:nvPr/>
        </p:nvPicPr>
        <p:blipFill>
          <a:blip r:embed="rId5"/>
          <a:srcRect/>
          <a:stretch/>
        </p:blipFill>
        <p:spPr>
          <a:xfrm>
            <a:off x="4970780" y="2169164"/>
            <a:ext cx="355600" cy="355600"/>
          </a:xfrm>
          <a:prstGeom prst="rect">
            <a:avLst/>
          </a:prstGeom>
        </p:spPr>
      </p:pic>
      <p:sp>
        <p:nvSpPr>
          <p:cNvPr id="12" name="Text 7"/>
          <p:cNvSpPr/>
          <p:nvPr/>
        </p:nvSpPr>
        <p:spPr>
          <a:xfrm>
            <a:off x="4970780" y="2613664"/>
            <a:ext cx="231795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F2A"/>
                </a:solidFill>
                <a:latin typeface="Space Grotesk" pitchFamily="34" charset="0"/>
                <a:ea typeface="Space Grotesk" pitchFamily="34" charset="-122"/>
                <a:cs typeface="Space Grotesk" pitchFamily="34" charset="-120"/>
              </a:rPr>
              <a:t>Staging area</a:t>
            </a:r>
            <a:endParaRPr lang="en-US" sz="1800" dirty="0"/>
          </a:p>
        </p:txBody>
      </p:sp>
      <p:sp>
        <p:nvSpPr>
          <p:cNvPr id="13" name="Text 8"/>
          <p:cNvSpPr/>
          <p:nvPr/>
        </p:nvSpPr>
        <p:spPr>
          <a:xfrm>
            <a:off x="4970780" y="2976879"/>
            <a:ext cx="231795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The box. Changes you have picked for the next snapshot.</a:t>
            </a:r>
            <a:endParaRPr lang="en-US" sz="1400" dirty="0"/>
          </a:p>
        </p:txBody>
      </p:sp>
      <p:sp>
        <p:nvSpPr>
          <p:cNvPr id="14" name="Text 9"/>
          <p:cNvSpPr/>
          <p:nvPr/>
        </p:nvSpPr>
        <p:spPr>
          <a:xfrm>
            <a:off x="7562850" y="2729229"/>
            <a:ext cx="10414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2410C"/>
                </a:solidFill>
                <a:latin typeface="JetBrains Mono" pitchFamily="34" charset="0"/>
                <a:ea typeface="JetBrains Mono" pitchFamily="34" charset="-122"/>
                <a:cs typeface="JetBrains Mono" pitchFamily="34" charset="-120"/>
              </a:rPr>
              <a:t>git commit</a:t>
            </a:r>
            <a:endParaRPr lang="en-US" sz="1300" dirty="0"/>
          </a:p>
        </p:txBody>
      </p:sp>
      <p:pic>
        <p:nvPicPr>
          <p:cNvPr id="15" name="Image 3" descr="connector"/>
          <p:cNvPicPr>
            <a:picLocks noChangeAspect="1"/>
          </p:cNvPicPr>
          <p:nvPr/>
        </p:nvPicPr>
        <p:blipFill>
          <a:blip r:embed="rId4"/>
          <a:srcRect/>
          <a:stretch/>
        </p:blipFill>
        <p:spPr>
          <a:xfrm>
            <a:off x="7581900" y="3011171"/>
            <a:ext cx="952500" cy="152400"/>
          </a:xfrm>
          <a:prstGeom prst="rect">
            <a:avLst/>
          </a:prstGeom>
        </p:spPr>
      </p:pic>
      <p:sp>
        <p:nvSpPr>
          <p:cNvPr id="16" name="Shape 10"/>
          <p:cNvSpPr/>
          <p:nvPr/>
        </p:nvSpPr>
        <p:spPr>
          <a:xfrm>
            <a:off x="8664575" y="1938654"/>
            <a:ext cx="2711450" cy="2015490"/>
          </a:xfrm>
          <a:prstGeom prst="roundRect">
            <a:avLst>
              <a:gd name="adj" fmla="val 4883"/>
            </a:avLst>
          </a:prstGeom>
          <a:solidFill>
            <a:srgbClr val="FFFDF8"/>
          </a:solidFill>
          <a:ln w="6350">
            <a:solidFill>
              <a:srgbClr val="E2DDD0"/>
            </a:solidFill>
            <a:prstDash val="solid"/>
          </a:ln>
        </p:spPr>
      </p:sp>
      <p:pic>
        <p:nvPicPr>
          <p:cNvPr id="17" name="Image 4" descr="Database"/>
          <p:cNvPicPr>
            <a:picLocks noChangeAspect="1"/>
          </p:cNvPicPr>
          <p:nvPr/>
        </p:nvPicPr>
        <p:blipFill>
          <a:blip r:embed="rId6"/>
          <a:srcRect/>
          <a:stretch/>
        </p:blipFill>
        <p:spPr>
          <a:xfrm>
            <a:off x="8895080" y="2169164"/>
            <a:ext cx="355600" cy="355600"/>
          </a:xfrm>
          <a:prstGeom prst="rect">
            <a:avLst/>
          </a:prstGeom>
        </p:spPr>
      </p:pic>
      <p:sp>
        <p:nvSpPr>
          <p:cNvPr id="18" name="Text 11"/>
          <p:cNvSpPr/>
          <p:nvPr/>
        </p:nvSpPr>
        <p:spPr>
          <a:xfrm>
            <a:off x="8895080" y="2613664"/>
            <a:ext cx="231795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F2A"/>
                </a:solidFill>
                <a:latin typeface="Space Grotesk" pitchFamily="34" charset="0"/>
                <a:ea typeface="Space Grotesk" pitchFamily="34" charset="-122"/>
                <a:cs typeface="Space Grotesk" pitchFamily="34" charset="-120"/>
              </a:rPr>
              <a:t>Repository</a:t>
            </a:r>
            <a:endParaRPr lang="en-US" sz="1800" dirty="0"/>
          </a:p>
        </p:txBody>
      </p:sp>
      <p:sp>
        <p:nvSpPr>
          <p:cNvPr id="19" name="Text 12"/>
          <p:cNvSpPr/>
          <p:nvPr/>
        </p:nvSpPr>
        <p:spPr>
          <a:xfrm>
            <a:off x="8895080" y="2976879"/>
            <a:ext cx="231795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The album. Saved history, stored in a hidden .git folder.</a:t>
            </a:r>
            <a:endParaRPr lang="en-US" sz="1400" dirty="0"/>
          </a:p>
        </p:txBody>
      </p:sp>
      <p:sp>
        <p:nvSpPr>
          <p:cNvPr id="20" name="Text 13"/>
          <p:cNvSpPr/>
          <p:nvPr/>
        </p:nvSpPr>
        <p:spPr>
          <a:xfrm>
            <a:off x="812800" y="4262121"/>
            <a:ext cx="10883392" cy="59436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21" name="Text 14"/>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2" name="Text 15"/>
          <p:cNvSpPr/>
          <p:nvPr/>
        </p:nvSpPr>
        <p:spPr>
          <a:xfrm>
            <a:off x="11287760" y="6238242"/>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B1F2A"/>
        </a:solidFill>
        <a:effectLst/>
      </p:bgPr>
    </p:bg>
    <p:spTree>
      <p:nvGrpSpPr>
        <p:cNvPr id="1" name=""/>
        <p:cNvGrpSpPr/>
        <p:nvPr/>
      </p:nvGrpSpPr>
      <p:grpSpPr>
        <a:xfrm>
          <a:off x="0" y="0"/>
          <a:ext cx="0" cy="0"/>
          <a:chOff x="0" y="0"/>
          <a:chExt cx="0" cy="0"/>
        </a:xfrm>
      </p:grpSpPr>
      <p:sp>
        <p:nvSpPr>
          <p:cNvPr id="2" name="Text 0"/>
          <p:cNvSpPr/>
          <p:nvPr/>
        </p:nvSpPr>
        <p:spPr>
          <a:xfrm>
            <a:off x="812800" y="1973579"/>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7894F"/>
                </a:solidFill>
                <a:latin typeface="Space Grotesk" pitchFamily="34" charset="0"/>
                <a:ea typeface="Space Grotesk" pitchFamily="34" charset="-122"/>
                <a:cs typeface="Space Grotesk" pitchFamily="34" charset="-120"/>
              </a:rPr>
              <a:t>03</a:t>
            </a:r>
            <a:endParaRPr lang="en-US" sz="6000" dirty="0"/>
          </a:p>
        </p:txBody>
      </p:sp>
      <p:sp>
        <p:nvSpPr>
          <p:cNvPr id="3" name="Text 1"/>
          <p:cNvSpPr/>
          <p:nvPr/>
        </p:nvSpPr>
        <p:spPr>
          <a:xfrm>
            <a:off x="812800" y="2938779"/>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F"/>
                </a:solidFill>
                <a:latin typeface="Space Grotesk" pitchFamily="34" charset="0"/>
                <a:ea typeface="Space Grotesk" pitchFamily="34" charset="-122"/>
                <a:cs typeface="Space Grotesk" pitchFamily="34" charset="-120"/>
              </a:rPr>
              <a:t>Setting up Git</a:t>
            </a:r>
            <a:endParaRPr lang="en-US" sz="6000" dirty="0"/>
          </a:p>
        </p:txBody>
      </p:sp>
      <p:sp>
        <p:nvSpPr>
          <p:cNvPr id="4" name="Text 2"/>
          <p:cNvSpPr/>
          <p:nvPr/>
        </p:nvSpPr>
        <p:spPr>
          <a:xfrm>
            <a:off x="812800" y="3942079"/>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Install, open a terminal, introduce yourself</a:t>
            </a:r>
            <a:endParaRPr lang="en-US" sz="2200" dirty="0"/>
          </a:p>
        </p:txBody>
      </p:sp>
      <p:sp>
        <p:nvSpPr>
          <p:cNvPr id="5" name="Text 3"/>
          <p:cNvSpPr/>
          <p:nvPr/>
        </p:nvSpPr>
        <p:spPr>
          <a:xfrm>
            <a:off x="812800" y="4508500"/>
            <a:ext cx="2022554" cy="375920"/>
          </a:xfrm>
          <a:prstGeom prst="roundRect">
            <a:avLst>
              <a:gd name="adj" fmla="val 50000"/>
            </a:avLst>
          </a:prstGeom>
          <a:solidFill>
            <a:srgbClr val="F7894F"/>
          </a:solidFill>
          <a:ln/>
        </p:spPr>
        <p:txBody>
          <a:bodyPr wrap="none" lIns="0" tIns="0" rIns="0" bIns="0" rtlCol="0" anchor="ctr">
            <a:normAutofit/>
          </a:bodyPr>
          <a:lstStyle/>
          <a:p>
            <a:pPr marL="0" indent="0" algn="ct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 About 15 minutes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STEP 1</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Install Git</a:t>
            </a:r>
            <a:endParaRPr lang="en-US" sz="3600" dirty="0"/>
          </a:p>
        </p:txBody>
      </p:sp>
      <p:sp>
        <p:nvSpPr>
          <p:cNvPr id="4" name="Shape 2"/>
          <p:cNvSpPr/>
          <p:nvPr/>
        </p:nvSpPr>
        <p:spPr>
          <a:xfrm>
            <a:off x="815975" y="1938654"/>
            <a:ext cx="3380264" cy="2183130"/>
          </a:xfrm>
          <a:prstGeom prst="roundRect">
            <a:avLst>
              <a:gd name="adj" fmla="val 4508"/>
            </a:avLst>
          </a:prstGeom>
          <a:solidFill>
            <a:srgbClr val="FFFDF8"/>
          </a:solidFill>
          <a:ln w="6350">
            <a:solidFill>
              <a:srgbClr val="E2DDD0"/>
            </a:solidFill>
            <a:prstDash val="solid"/>
          </a:ln>
        </p:spPr>
      </p:sp>
      <p:pic>
        <p:nvPicPr>
          <p:cNvPr id="5" name="Image 0" descr="Home"/>
          <p:cNvPicPr>
            <a:picLocks noChangeAspect="1"/>
          </p:cNvPicPr>
          <p:nvPr/>
        </p:nvPicPr>
        <p:blipFill>
          <a:blip r:embed="rId3"/>
          <a:srcRect/>
          <a:stretch/>
        </p:blipFill>
        <p:spPr>
          <a:xfrm>
            <a:off x="1046480" y="2169164"/>
            <a:ext cx="304800" cy="304800"/>
          </a:xfrm>
          <a:prstGeom prst="rect">
            <a:avLst/>
          </a:prstGeom>
        </p:spPr>
      </p:pic>
      <p:sp>
        <p:nvSpPr>
          <p:cNvPr id="6" name="Text 3"/>
          <p:cNvSpPr/>
          <p:nvPr/>
        </p:nvSpPr>
        <p:spPr>
          <a:xfrm>
            <a:off x="1046480" y="2562864"/>
            <a:ext cx="300683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Windows</a:t>
            </a:r>
            <a:endParaRPr lang="en-US" sz="1600" dirty="0"/>
          </a:p>
        </p:txBody>
      </p:sp>
      <p:sp>
        <p:nvSpPr>
          <p:cNvPr id="7" name="Text 4"/>
          <p:cNvSpPr/>
          <p:nvPr/>
        </p:nvSpPr>
        <p:spPr>
          <a:xfrm>
            <a:off x="1046480" y="2895600"/>
            <a:ext cx="300683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Download </a:t>
            </a:r>
            <a:r>
              <a:rPr lang="en-US" sz="1400" b="1" dirty="0">
                <a:solidFill>
                  <a:srgbClr val="4A4F5C"/>
                </a:solidFill>
                <a:latin typeface="IBM Plex Sans" pitchFamily="34" charset="0"/>
                <a:ea typeface="IBM Plex Sans" pitchFamily="34" charset="-122"/>
                <a:cs typeface="IBM Plex Sans" pitchFamily="34" charset="-120"/>
              </a:rPr>
              <a:t>Git for Windows</a:t>
            </a:r>
            <a:r>
              <a:rPr lang="en-US" sz="1400" dirty="0">
                <a:solidFill>
                  <a:srgbClr val="4A4F5C"/>
                </a:solidFill>
                <a:latin typeface="IBM Plex Sans" pitchFamily="34" charset="0"/>
                <a:ea typeface="IBM Plex Sans" pitchFamily="34" charset="-122"/>
                <a:cs typeface="IBM Plex Sans" pitchFamily="34" charset="-120"/>
              </a:rPr>
              <a:t> from git-scm.com and accept the defaults. It includes </a:t>
            </a:r>
            <a:r>
              <a:rPr lang="en-US" sz="1400" b="1" dirty="0">
                <a:solidFill>
                  <a:srgbClr val="4A4F5C"/>
                </a:solidFill>
                <a:latin typeface="IBM Plex Sans" pitchFamily="34" charset="0"/>
                <a:ea typeface="IBM Plex Sans" pitchFamily="34" charset="-122"/>
                <a:cs typeface="IBM Plex Sans" pitchFamily="34" charset="-120"/>
              </a:rPr>
              <a:t>Git Bash</a:t>
            </a:r>
            <a:r>
              <a:rPr lang="en-US" sz="1400" dirty="0">
                <a:solidFill>
                  <a:srgbClr val="4A4F5C"/>
                </a:solidFill>
                <a:latin typeface="IBM Plex Sans" pitchFamily="34" charset="0"/>
                <a:ea typeface="IBM Plex Sans" pitchFamily="34" charset="-122"/>
                <a:cs typeface="IBM Plex Sans" pitchFamily="34" charset="-120"/>
              </a:rPr>
              <a:t>, a terminal we'll use today.</a:t>
            </a:r>
            <a:endParaRPr lang="en-US" sz="1400" dirty="0"/>
          </a:p>
        </p:txBody>
      </p:sp>
      <p:sp>
        <p:nvSpPr>
          <p:cNvPr id="8" name="Shape 5"/>
          <p:cNvSpPr/>
          <p:nvPr/>
        </p:nvSpPr>
        <p:spPr>
          <a:xfrm>
            <a:off x="4405789" y="1938654"/>
            <a:ext cx="3380343" cy="2183130"/>
          </a:xfrm>
          <a:prstGeom prst="roundRect">
            <a:avLst>
              <a:gd name="adj" fmla="val 4508"/>
            </a:avLst>
          </a:prstGeom>
          <a:solidFill>
            <a:srgbClr val="FFFDF8"/>
          </a:solidFill>
          <a:ln w="6350">
            <a:solidFill>
              <a:srgbClr val="E2DDD0"/>
            </a:solidFill>
            <a:prstDash val="solid"/>
          </a:ln>
        </p:spPr>
      </p:sp>
      <p:pic>
        <p:nvPicPr>
          <p:cNvPr id="9" name="Image 1" descr="Settings"/>
          <p:cNvPicPr>
            <a:picLocks noChangeAspect="1"/>
          </p:cNvPicPr>
          <p:nvPr/>
        </p:nvPicPr>
        <p:blipFill>
          <a:blip r:embed="rId4"/>
          <a:srcRect/>
          <a:stretch/>
        </p:blipFill>
        <p:spPr>
          <a:xfrm>
            <a:off x="4636294" y="2169164"/>
            <a:ext cx="304800" cy="304800"/>
          </a:xfrm>
          <a:prstGeom prst="rect">
            <a:avLst/>
          </a:prstGeom>
        </p:spPr>
      </p:pic>
      <p:sp>
        <p:nvSpPr>
          <p:cNvPr id="10" name="Text 6"/>
          <p:cNvSpPr/>
          <p:nvPr/>
        </p:nvSpPr>
        <p:spPr>
          <a:xfrm>
            <a:off x="4636294" y="2562864"/>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macOS</a:t>
            </a:r>
            <a:endParaRPr lang="en-US" sz="1600" dirty="0"/>
          </a:p>
        </p:txBody>
      </p:sp>
      <p:sp>
        <p:nvSpPr>
          <p:cNvPr id="11" name="Text 7"/>
          <p:cNvSpPr/>
          <p:nvPr/>
        </p:nvSpPr>
        <p:spPr>
          <a:xfrm>
            <a:off x="4636294" y="2895600"/>
            <a:ext cx="3006913"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Open Terminal and type </a:t>
            </a:r>
            <a:r>
              <a:rPr lang="en-US" sz="1400" b="1" dirty="0">
                <a:solidFill>
                  <a:srgbClr val="C2410C"/>
                </a:solidFill>
                <a:latin typeface="IBM Plex Sans" pitchFamily="34" charset="0"/>
                <a:ea typeface="IBM Plex Sans" pitchFamily="34" charset="-122"/>
                <a:cs typeface="IBM Plex Sans" pitchFamily="34" charset="-120"/>
              </a:rPr>
              <a:t>git --version</a:t>
            </a:r>
            <a:r>
              <a:rPr lang="en-US" sz="1400" dirty="0">
                <a:solidFill>
                  <a:srgbClr val="4A4F5C"/>
                </a:solidFill>
                <a:latin typeface="IBM Plex Sans" pitchFamily="34" charset="0"/>
                <a:ea typeface="IBM Plex Sans" pitchFamily="34" charset="-122"/>
                <a:cs typeface="IBM Plex Sans" pitchFamily="34" charset="-120"/>
              </a:rPr>
              <a:t>. If Git is missing, macOS offers to install it. (Or: </a:t>
            </a:r>
            <a:r>
              <a:rPr lang="en-US" sz="1400" b="1" dirty="0">
                <a:solidFill>
                  <a:srgbClr val="C2410C"/>
                </a:solidFill>
                <a:latin typeface="IBM Plex Sans" pitchFamily="34" charset="0"/>
                <a:ea typeface="IBM Plex Sans" pitchFamily="34" charset="-122"/>
                <a:cs typeface="IBM Plex Sans" pitchFamily="34" charset="-120"/>
              </a:rPr>
              <a:t>brew install git</a:t>
            </a:r>
            <a:r>
              <a:rPr lang="en-US" sz="1400" dirty="0">
                <a:solidFill>
                  <a:srgbClr val="4A4F5C"/>
                </a:solidFill>
                <a:latin typeface="IBM Plex Sans" pitchFamily="34" charset="0"/>
                <a:ea typeface="IBM Plex Sans" pitchFamily="34" charset="-122"/>
                <a:cs typeface="IBM Plex Sans" pitchFamily="34" charset="-120"/>
              </a:rPr>
              <a:t>)</a:t>
            </a:r>
            <a:endParaRPr lang="en-US" sz="1400" dirty="0"/>
          </a:p>
        </p:txBody>
      </p:sp>
      <p:sp>
        <p:nvSpPr>
          <p:cNvPr id="12" name="Shape 8"/>
          <p:cNvSpPr/>
          <p:nvPr/>
        </p:nvSpPr>
        <p:spPr>
          <a:xfrm>
            <a:off x="7995682" y="1938654"/>
            <a:ext cx="3380343" cy="2183130"/>
          </a:xfrm>
          <a:prstGeom prst="roundRect">
            <a:avLst>
              <a:gd name="adj" fmla="val 4508"/>
            </a:avLst>
          </a:prstGeom>
          <a:solidFill>
            <a:srgbClr val="FFFDF8"/>
          </a:solidFill>
          <a:ln w="6350">
            <a:solidFill>
              <a:srgbClr val="E2DDD0"/>
            </a:solidFill>
            <a:prstDash val="solid"/>
          </a:ln>
        </p:spPr>
      </p:sp>
      <p:pic>
        <p:nvPicPr>
          <p:cNvPr id="13" name="Image 2" descr="Tool"/>
          <p:cNvPicPr>
            <a:picLocks noChangeAspect="1"/>
          </p:cNvPicPr>
          <p:nvPr/>
        </p:nvPicPr>
        <p:blipFill>
          <a:blip r:embed="rId5"/>
          <a:srcRect/>
          <a:stretch/>
        </p:blipFill>
        <p:spPr>
          <a:xfrm>
            <a:off x="8226187" y="2169164"/>
            <a:ext cx="304800" cy="304800"/>
          </a:xfrm>
          <a:prstGeom prst="rect">
            <a:avLst/>
          </a:prstGeom>
        </p:spPr>
      </p:pic>
      <p:sp>
        <p:nvSpPr>
          <p:cNvPr id="14" name="Text 9"/>
          <p:cNvSpPr/>
          <p:nvPr/>
        </p:nvSpPr>
        <p:spPr>
          <a:xfrm>
            <a:off x="8226187" y="2562864"/>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Linux</a:t>
            </a:r>
            <a:endParaRPr lang="en-US" sz="1600" dirty="0"/>
          </a:p>
        </p:txBody>
      </p:sp>
      <p:sp>
        <p:nvSpPr>
          <p:cNvPr id="15" name="Text 10"/>
          <p:cNvSpPr/>
          <p:nvPr/>
        </p:nvSpPr>
        <p:spPr>
          <a:xfrm>
            <a:off x="8226187" y="2895600"/>
            <a:ext cx="300691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Use your package manager, e.g. </a:t>
            </a:r>
            <a:r>
              <a:rPr lang="en-US" sz="1400" b="1" dirty="0">
                <a:solidFill>
                  <a:srgbClr val="C2410C"/>
                </a:solidFill>
                <a:latin typeface="IBM Plex Sans" pitchFamily="34" charset="0"/>
                <a:ea typeface="IBM Plex Sans" pitchFamily="34" charset="-122"/>
                <a:cs typeface="IBM Plex Sans" pitchFamily="34" charset="-120"/>
              </a:rPr>
              <a:t>sudo apt install git</a:t>
            </a:r>
            <a:r>
              <a:rPr lang="en-US" sz="1400" dirty="0">
                <a:solidFill>
                  <a:srgbClr val="4A4F5C"/>
                </a:solidFill>
                <a:latin typeface="IBM Plex Sans" pitchFamily="34" charset="0"/>
                <a:ea typeface="IBM Plex Sans" pitchFamily="34" charset="-122"/>
                <a:cs typeface="IBM Plex Sans" pitchFamily="34" charset="-120"/>
              </a:rPr>
              <a:t> on Ubuntu or Debian.</a:t>
            </a:r>
            <a:endParaRPr lang="en-US" sz="1400" dirty="0"/>
          </a:p>
        </p:txBody>
      </p:sp>
      <p:sp>
        <p:nvSpPr>
          <p:cNvPr id="16" name="Text 11"/>
          <p:cNvSpPr/>
          <p:nvPr/>
        </p:nvSpPr>
        <p:spPr>
          <a:xfrm>
            <a:off x="812800" y="4782821"/>
            <a:ext cx="1654731"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F2A"/>
                </a:solidFill>
                <a:latin typeface="IBM Plex Sans" pitchFamily="34" charset="0"/>
                <a:ea typeface="IBM Plex Sans" pitchFamily="34" charset="-122"/>
                <a:cs typeface="IBM Plex Sans" pitchFamily="34" charset="-120"/>
              </a:rPr>
              <a:t>Check it worked:</a:t>
            </a:r>
            <a:endParaRPr lang="en-US" sz="1600" dirty="0"/>
          </a:p>
        </p:txBody>
      </p:sp>
      <p:sp>
        <p:nvSpPr>
          <p:cNvPr id="17" name="Shape 12"/>
          <p:cNvSpPr/>
          <p:nvPr/>
        </p:nvSpPr>
        <p:spPr>
          <a:xfrm>
            <a:off x="2670731" y="4429764"/>
            <a:ext cx="4445000" cy="990600"/>
          </a:xfrm>
          <a:prstGeom prst="roundRect">
            <a:avLst>
              <a:gd name="adj" fmla="val 10256"/>
            </a:avLst>
          </a:prstGeom>
          <a:solidFill>
            <a:srgbClr val="20242F"/>
          </a:solidFill>
          <a:ln/>
        </p:spPr>
      </p:sp>
      <p:sp>
        <p:nvSpPr>
          <p:cNvPr id="18" name="Text 13"/>
          <p:cNvSpPr/>
          <p:nvPr/>
        </p:nvSpPr>
        <p:spPr>
          <a:xfrm>
            <a:off x="2950131" y="4658364"/>
            <a:ext cx="400278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--version</a:t>
            </a:r>
            <a:endParaRPr lang="en-US" sz="1400" dirty="0"/>
          </a:p>
        </p:txBody>
      </p:sp>
      <p:sp>
        <p:nvSpPr>
          <p:cNvPr id="19" name="Text 14"/>
          <p:cNvSpPr/>
          <p:nvPr/>
        </p:nvSpPr>
        <p:spPr>
          <a:xfrm>
            <a:off x="2950131" y="4925064"/>
            <a:ext cx="400278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git version 2.x.x</a:t>
            </a:r>
            <a:endParaRPr lang="en-US" sz="1400" dirty="0"/>
          </a:p>
        </p:txBody>
      </p:sp>
      <p:sp>
        <p:nvSpPr>
          <p:cNvPr id="20" name="Text 15"/>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1" name="Text 16"/>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STEP 3</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Tell Git who you are</a:t>
            </a:r>
            <a:endParaRPr lang="en-US" sz="3600" dirty="0"/>
          </a:p>
        </p:txBody>
      </p:sp>
      <p:sp>
        <p:nvSpPr>
          <p:cNvPr id="4" name="Shape 2"/>
          <p:cNvSpPr/>
          <p:nvPr/>
        </p:nvSpPr>
        <p:spPr>
          <a:xfrm>
            <a:off x="812800" y="1935479"/>
            <a:ext cx="10566400" cy="1790700"/>
          </a:xfrm>
          <a:prstGeom prst="roundRect">
            <a:avLst>
              <a:gd name="adj" fmla="val 5674"/>
            </a:avLst>
          </a:prstGeom>
          <a:solidFill>
            <a:srgbClr val="20242F"/>
          </a:solidFill>
          <a:ln/>
        </p:spPr>
      </p:sp>
      <p:sp>
        <p:nvSpPr>
          <p:cNvPr id="5" name="Text 3"/>
          <p:cNvSpPr/>
          <p:nvPr/>
        </p:nvSpPr>
        <p:spPr>
          <a:xfrm>
            <a:off x="1092200" y="2164079"/>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config --global user.name "Your Name"</a:t>
            </a:r>
            <a:endParaRPr lang="en-US" sz="1400" dirty="0"/>
          </a:p>
        </p:txBody>
      </p:sp>
      <p:sp>
        <p:nvSpPr>
          <p:cNvPr id="6" name="Text 4"/>
          <p:cNvSpPr/>
          <p:nvPr/>
        </p:nvSpPr>
        <p:spPr>
          <a:xfrm>
            <a:off x="1092200" y="2430779"/>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config --global user.email "you@example.com"</a:t>
            </a:r>
            <a:endParaRPr lang="en-US" sz="1400" dirty="0"/>
          </a:p>
        </p:txBody>
      </p:sp>
      <p:sp>
        <p:nvSpPr>
          <p:cNvPr id="7" name="Text 5"/>
          <p:cNvSpPr/>
          <p:nvPr/>
        </p:nvSpPr>
        <p:spPr>
          <a:xfrm>
            <a:off x="1092200" y="2697479"/>
            <a:ext cx="10307828" cy="292100"/>
          </a:xfrm>
          <a:prstGeom prst="rect">
            <a:avLst/>
          </a:prstGeom>
          <a:noFill/>
          <a:ln/>
        </p:spPr>
        <p:txBody>
          <a:bodyPr wrap="square" lIns="0" tIns="0" rIns="0" bIns="0" rtlCol="0" anchor="t">
            <a:normAutofit/>
          </a:bodyPr>
          <a:lstStyle/>
          <a:p>
            <a:pPr marL="0" indent="0" algn="l">
              <a:lnSpc>
                <a:spcPts val="2100"/>
              </a:lnSpc>
              <a:buNone/>
            </a:pPr>
            <a:endParaRPr lang="en-US" sz="1400" dirty="0"/>
          </a:p>
        </p:txBody>
      </p:sp>
      <p:sp>
        <p:nvSpPr>
          <p:cNvPr id="8" name="Text 6"/>
          <p:cNvSpPr/>
          <p:nvPr/>
        </p:nvSpPr>
        <p:spPr>
          <a:xfrm>
            <a:off x="1092200" y="3230879"/>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config --list </a:t>
            </a:r>
            <a:r>
              <a:rPr lang="en-US" sz="1400" dirty="0">
                <a:solidFill>
                  <a:srgbClr val="9AA3B5"/>
                </a:solidFill>
                <a:latin typeface="JetBrains Mono" pitchFamily="34" charset="0"/>
                <a:ea typeface="JetBrains Mono" pitchFamily="34" charset="-122"/>
                <a:cs typeface="JetBrains Mono" pitchFamily="34" charset="-120"/>
              </a:rPr>
              <a:t># check your settings</a:t>
            </a:r>
            <a:endParaRPr lang="en-US" sz="1400" dirty="0"/>
          </a:p>
        </p:txBody>
      </p:sp>
      <p:sp>
        <p:nvSpPr>
          <p:cNvPr id="9" name="Shape 7"/>
          <p:cNvSpPr/>
          <p:nvPr/>
        </p:nvSpPr>
        <p:spPr>
          <a:xfrm>
            <a:off x="815975" y="4034154"/>
            <a:ext cx="3380264" cy="1291590"/>
          </a:xfrm>
          <a:prstGeom prst="roundRect">
            <a:avLst>
              <a:gd name="adj" fmla="val 7620"/>
            </a:avLst>
          </a:prstGeom>
          <a:solidFill>
            <a:srgbClr val="FFFDF8"/>
          </a:solidFill>
          <a:ln w="6350">
            <a:solidFill>
              <a:srgbClr val="E2DDD0"/>
            </a:solidFill>
            <a:prstDash val="solid"/>
          </a:ln>
        </p:spPr>
      </p:sp>
      <p:sp>
        <p:nvSpPr>
          <p:cNvPr id="10" name="Text 8"/>
          <p:cNvSpPr/>
          <p:nvPr/>
        </p:nvSpPr>
        <p:spPr>
          <a:xfrm>
            <a:off x="1046480" y="4264664"/>
            <a:ext cx="300683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Once per computer</a:t>
            </a:r>
            <a:endParaRPr lang="en-US" sz="1600" dirty="0"/>
          </a:p>
        </p:txBody>
      </p:sp>
      <p:sp>
        <p:nvSpPr>
          <p:cNvPr id="11" name="Text 9"/>
          <p:cNvSpPr/>
          <p:nvPr/>
        </p:nvSpPr>
        <p:spPr>
          <a:xfrm>
            <a:off x="1046480" y="4597400"/>
            <a:ext cx="300683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--global means these settings apply to every project on this machine.</a:t>
            </a:r>
            <a:endParaRPr lang="en-US" sz="1400" dirty="0"/>
          </a:p>
        </p:txBody>
      </p:sp>
      <p:sp>
        <p:nvSpPr>
          <p:cNvPr id="12" name="Shape 10"/>
          <p:cNvSpPr/>
          <p:nvPr/>
        </p:nvSpPr>
        <p:spPr>
          <a:xfrm>
            <a:off x="4405789" y="4034154"/>
            <a:ext cx="3380343" cy="1291590"/>
          </a:xfrm>
          <a:prstGeom prst="roundRect">
            <a:avLst>
              <a:gd name="adj" fmla="val 7620"/>
            </a:avLst>
          </a:prstGeom>
          <a:solidFill>
            <a:srgbClr val="FFFDF8"/>
          </a:solidFill>
          <a:ln w="6350">
            <a:solidFill>
              <a:srgbClr val="E2DDD0"/>
            </a:solidFill>
            <a:prstDash val="solid"/>
          </a:ln>
        </p:spPr>
      </p:sp>
      <p:sp>
        <p:nvSpPr>
          <p:cNvPr id="13" name="Text 11"/>
          <p:cNvSpPr/>
          <p:nvPr/>
        </p:nvSpPr>
        <p:spPr>
          <a:xfrm>
            <a:off x="4636294" y="4264664"/>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Use your GitHub email</a:t>
            </a:r>
            <a:endParaRPr lang="en-US" sz="1600" dirty="0"/>
          </a:p>
        </p:txBody>
      </p:sp>
      <p:sp>
        <p:nvSpPr>
          <p:cNvPr id="14" name="Text 12"/>
          <p:cNvSpPr/>
          <p:nvPr/>
        </p:nvSpPr>
        <p:spPr>
          <a:xfrm>
            <a:off x="4636294" y="4597400"/>
            <a:ext cx="30069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Your commits get linked to your GitHub profile.</a:t>
            </a:r>
            <a:endParaRPr lang="en-US" sz="1400" dirty="0"/>
          </a:p>
        </p:txBody>
      </p:sp>
      <p:sp>
        <p:nvSpPr>
          <p:cNvPr id="15" name="Shape 13"/>
          <p:cNvSpPr/>
          <p:nvPr/>
        </p:nvSpPr>
        <p:spPr>
          <a:xfrm>
            <a:off x="7995682" y="4034154"/>
            <a:ext cx="3380343" cy="1291590"/>
          </a:xfrm>
          <a:prstGeom prst="roundRect">
            <a:avLst>
              <a:gd name="adj" fmla="val 7620"/>
            </a:avLst>
          </a:prstGeom>
          <a:solidFill>
            <a:srgbClr val="FFFDF8"/>
          </a:solidFill>
          <a:ln w="6350">
            <a:solidFill>
              <a:srgbClr val="E2DDD0"/>
            </a:solidFill>
            <a:prstDash val="solid"/>
          </a:ln>
        </p:spPr>
      </p:sp>
      <p:sp>
        <p:nvSpPr>
          <p:cNvPr id="16" name="Text 14"/>
          <p:cNvSpPr/>
          <p:nvPr/>
        </p:nvSpPr>
        <p:spPr>
          <a:xfrm>
            <a:off x="8226187" y="4264664"/>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Why “main”?</a:t>
            </a:r>
            <a:endParaRPr lang="en-US" sz="1600" dirty="0"/>
          </a:p>
        </p:txBody>
      </p:sp>
      <p:sp>
        <p:nvSpPr>
          <p:cNvPr id="17" name="Text 15"/>
          <p:cNvSpPr/>
          <p:nvPr/>
        </p:nvSpPr>
        <p:spPr>
          <a:xfrm>
            <a:off x="8226187" y="4597400"/>
            <a:ext cx="30069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It's GitHub's default name for the first branch. This keeps both in sync.</a:t>
            </a:r>
            <a:endParaRPr lang="en-US" sz="1400" dirty="0"/>
          </a:p>
        </p:txBody>
      </p:sp>
      <p:sp>
        <p:nvSpPr>
          <p:cNvPr id="18" name="Text 16"/>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9" name="Text 17"/>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05A28"/>
        </a:solidFill>
        <a:effectLst/>
      </p:bgPr>
    </p:bg>
    <p:spTree>
      <p:nvGrpSpPr>
        <p:cNvPr id="1" name=""/>
        <p:cNvGrpSpPr/>
        <p:nvPr/>
      </p:nvGrpSpPr>
      <p:grpSpPr>
        <a:xfrm>
          <a:off x="0" y="0"/>
          <a:ext cx="0" cy="0"/>
          <a:chOff x="0" y="0"/>
          <a:chExt cx="0" cy="0"/>
        </a:xfrm>
      </p:grpSpPr>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Get Git ready</a:t>
            </a:r>
            <a:endParaRPr lang="en-US" sz="3600" dirty="0"/>
          </a:p>
        </p:txBody>
      </p:sp>
      <p:sp>
        <p:nvSpPr>
          <p:cNvPr id="4" name="Text 2"/>
          <p:cNvSpPr/>
          <p:nvPr/>
        </p:nvSpPr>
        <p:spPr>
          <a:xfrm>
            <a:off x="855663" y="1935479"/>
            <a:ext cx="5051108" cy="1682750"/>
          </a:xfrm>
          <a:prstGeom prst="rect">
            <a:avLst/>
          </a:prstGeom>
          <a:noFill/>
          <a:ln/>
        </p:spPr>
        <p:txBody>
          <a:bodyPr wrap="square" lIns="0" tIns="0" rIns="0" bIns="0" rtlCol="0" anchor="t">
            <a:normAutofit/>
          </a:bodyPr>
          <a:lstStyle/>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Install Git (or check it's installed)</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Open a terminal (Git Bash on Windows)</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Run git --version</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Set your name and email</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Set the default branch to main</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Run git config --list to check</a:t>
            </a:r>
            <a:endParaRPr lang="en-US" sz="1500" dirty="0"/>
          </a:p>
        </p:txBody>
      </p:sp>
      <p:sp>
        <p:nvSpPr>
          <p:cNvPr id="5" name="Shape 3"/>
          <p:cNvSpPr/>
          <p:nvPr/>
        </p:nvSpPr>
        <p:spPr>
          <a:xfrm>
            <a:off x="6172200" y="1935479"/>
            <a:ext cx="5207000" cy="1600200"/>
          </a:xfrm>
          <a:prstGeom prst="roundRect">
            <a:avLst>
              <a:gd name="adj" fmla="val 6349"/>
            </a:avLst>
          </a:prstGeom>
          <a:solidFill>
            <a:srgbClr val="20242F"/>
          </a:solidFill>
          <a:ln/>
        </p:spPr>
      </p:sp>
      <p:sp>
        <p:nvSpPr>
          <p:cNvPr id="6" name="Text 4"/>
          <p:cNvSpPr/>
          <p:nvPr/>
        </p:nvSpPr>
        <p:spPr>
          <a:xfrm>
            <a:off x="6451600" y="2164079"/>
            <a:ext cx="478764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A072"/>
                </a:solidFill>
                <a:latin typeface="JetBrains Mono" pitchFamily="34" charset="0"/>
                <a:ea typeface="JetBrains Mono" pitchFamily="34" charset="-122"/>
                <a:cs typeface="JetBrains Mono" pitchFamily="34" charset="-120"/>
              </a:rPr>
              <a:t>$</a:t>
            </a:r>
            <a:r>
              <a:rPr lang="en-US" sz="1200" dirty="0">
                <a:solidFill>
                  <a:srgbClr val="EDEAE2"/>
                </a:solidFill>
                <a:latin typeface="JetBrains Mono" pitchFamily="34" charset="0"/>
                <a:ea typeface="JetBrains Mono" pitchFamily="34" charset="-122"/>
                <a:cs typeface="JetBrains Mono" pitchFamily="34" charset="-120"/>
              </a:rPr>
              <a:t> git --version</a:t>
            </a:r>
            <a:endParaRPr lang="en-US" sz="1200" dirty="0"/>
          </a:p>
        </p:txBody>
      </p:sp>
      <p:sp>
        <p:nvSpPr>
          <p:cNvPr id="7" name="Text 5"/>
          <p:cNvSpPr/>
          <p:nvPr/>
        </p:nvSpPr>
        <p:spPr>
          <a:xfrm>
            <a:off x="6451600" y="2392679"/>
            <a:ext cx="478764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A072"/>
                </a:solidFill>
                <a:latin typeface="JetBrains Mono" pitchFamily="34" charset="0"/>
                <a:ea typeface="JetBrains Mono" pitchFamily="34" charset="-122"/>
                <a:cs typeface="JetBrains Mono" pitchFamily="34" charset="-120"/>
              </a:rPr>
              <a:t>$</a:t>
            </a:r>
            <a:r>
              <a:rPr lang="en-US" sz="1200" dirty="0">
                <a:solidFill>
                  <a:srgbClr val="EDEAE2"/>
                </a:solidFill>
                <a:latin typeface="JetBrains Mono" pitchFamily="34" charset="0"/>
                <a:ea typeface="JetBrains Mono" pitchFamily="34" charset="-122"/>
                <a:cs typeface="JetBrains Mono" pitchFamily="34" charset="-120"/>
              </a:rPr>
              <a:t> git config --global user.name "…"</a:t>
            </a:r>
            <a:endParaRPr lang="en-US" sz="1200" dirty="0"/>
          </a:p>
        </p:txBody>
      </p:sp>
      <p:sp>
        <p:nvSpPr>
          <p:cNvPr id="8" name="Text 6"/>
          <p:cNvSpPr/>
          <p:nvPr/>
        </p:nvSpPr>
        <p:spPr>
          <a:xfrm>
            <a:off x="6451600" y="2621279"/>
            <a:ext cx="478764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A072"/>
                </a:solidFill>
                <a:latin typeface="JetBrains Mono" pitchFamily="34" charset="0"/>
                <a:ea typeface="JetBrains Mono" pitchFamily="34" charset="-122"/>
                <a:cs typeface="JetBrains Mono" pitchFamily="34" charset="-120"/>
              </a:rPr>
              <a:t>$</a:t>
            </a:r>
            <a:r>
              <a:rPr lang="en-US" sz="1200" dirty="0">
                <a:solidFill>
                  <a:srgbClr val="EDEAE2"/>
                </a:solidFill>
                <a:latin typeface="JetBrains Mono" pitchFamily="34" charset="0"/>
                <a:ea typeface="JetBrains Mono" pitchFamily="34" charset="-122"/>
                <a:cs typeface="JetBrains Mono" pitchFamily="34" charset="-120"/>
              </a:rPr>
              <a:t> git config --global user.email "…"</a:t>
            </a:r>
            <a:endParaRPr lang="en-US" sz="1200" dirty="0"/>
          </a:p>
        </p:txBody>
      </p:sp>
      <p:sp>
        <p:nvSpPr>
          <p:cNvPr id="9" name="Text 7"/>
          <p:cNvSpPr/>
          <p:nvPr/>
        </p:nvSpPr>
        <p:spPr>
          <a:xfrm>
            <a:off x="6451600" y="2849879"/>
            <a:ext cx="4787646" cy="254000"/>
          </a:xfrm>
          <a:prstGeom prst="rect">
            <a:avLst/>
          </a:prstGeom>
          <a:noFill/>
          <a:ln/>
        </p:spPr>
        <p:txBody>
          <a:bodyPr wrap="square" lIns="0" tIns="0" rIns="0" bIns="0" rtlCol="0" anchor="t">
            <a:normAutofit/>
          </a:bodyPr>
          <a:lstStyle/>
          <a:p>
            <a:pPr marL="0" indent="0" algn="l">
              <a:lnSpc>
                <a:spcPts val="1800"/>
              </a:lnSpc>
              <a:buNone/>
            </a:pPr>
            <a:endParaRPr lang="en-US" sz="1200" dirty="0"/>
          </a:p>
        </p:txBody>
      </p:sp>
      <p:sp>
        <p:nvSpPr>
          <p:cNvPr id="10" name="Text 8"/>
          <p:cNvSpPr/>
          <p:nvPr/>
        </p:nvSpPr>
        <p:spPr>
          <a:xfrm>
            <a:off x="6451600" y="3078479"/>
            <a:ext cx="478764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7A072"/>
                </a:solidFill>
                <a:latin typeface="JetBrains Mono" pitchFamily="34" charset="0"/>
                <a:ea typeface="JetBrains Mono" pitchFamily="34" charset="-122"/>
                <a:cs typeface="JetBrains Mono" pitchFamily="34" charset="-120"/>
              </a:rPr>
              <a:t>$</a:t>
            </a:r>
            <a:r>
              <a:rPr lang="en-US" sz="1200" dirty="0">
                <a:solidFill>
                  <a:srgbClr val="EDEAE2"/>
                </a:solidFill>
                <a:latin typeface="JetBrains Mono" pitchFamily="34" charset="0"/>
                <a:ea typeface="JetBrains Mono" pitchFamily="34" charset="-122"/>
                <a:cs typeface="JetBrains Mono" pitchFamily="34" charset="-120"/>
              </a:rPr>
              <a:t> git config --list</a:t>
            </a:r>
            <a:endParaRPr lang="en-US" sz="1200" dirty="0"/>
          </a:p>
        </p:txBody>
      </p:sp>
      <p:sp>
        <p:nvSpPr>
          <p:cNvPr id="11" name="Text 9"/>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2A"/>
                </a:solidFill>
                <a:latin typeface="IBM Plex Sans" pitchFamily="34" charset="0"/>
                <a:ea typeface="IBM Plex Sans" pitchFamily="34" charset="-122"/>
                <a:cs typeface="IBM Plex Sans" pitchFamily="34" charset="-120"/>
              </a:rPr>
              <a:t>Git &amp; GitHub Basics</a:t>
            </a:r>
            <a:endParaRPr lang="en-US" sz="1200" dirty="0"/>
          </a:p>
        </p:txBody>
      </p:sp>
      <p:sp>
        <p:nvSpPr>
          <p:cNvPr id="12" name="Text 10"/>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2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1B1F2A"/>
        </a:solidFill>
        <a:effectLst/>
      </p:bgPr>
    </p:bg>
    <p:spTree>
      <p:nvGrpSpPr>
        <p:cNvPr id="1" name=""/>
        <p:cNvGrpSpPr/>
        <p:nvPr/>
      </p:nvGrpSpPr>
      <p:grpSpPr>
        <a:xfrm>
          <a:off x="0" y="0"/>
          <a:ext cx="0" cy="0"/>
          <a:chOff x="0" y="0"/>
          <a:chExt cx="0" cy="0"/>
        </a:xfrm>
      </p:grpSpPr>
      <p:sp>
        <p:nvSpPr>
          <p:cNvPr id="2" name="Text 0"/>
          <p:cNvSpPr/>
          <p:nvPr/>
        </p:nvSpPr>
        <p:spPr>
          <a:xfrm>
            <a:off x="812800" y="1973585"/>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7894F"/>
                </a:solidFill>
                <a:latin typeface="Space Grotesk" pitchFamily="34" charset="0"/>
                <a:ea typeface="Space Grotesk" pitchFamily="34" charset="-122"/>
                <a:cs typeface="Space Grotesk" pitchFamily="34" charset="-120"/>
              </a:rPr>
              <a:t>04</a:t>
            </a:r>
            <a:endParaRPr lang="en-US" sz="6000" dirty="0"/>
          </a:p>
        </p:txBody>
      </p:sp>
      <p:sp>
        <p:nvSpPr>
          <p:cNvPr id="3" name="Text 1"/>
          <p:cNvSpPr/>
          <p:nvPr/>
        </p:nvSpPr>
        <p:spPr>
          <a:xfrm>
            <a:off x="812800" y="2938785"/>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F"/>
                </a:solidFill>
                <a:latin typeface="Space Grotesk" pitchFamily="34" charset="0"/>
                <a:ea typeface="Space Grotesk" pitchFamily="34" charset="-122"/>
                <a:cs typeface="Space Grotesk" pitchFamily="34" charset="-120"/>
              </a:rPr>
              <a:t>Your first repository</a:t>
            </a:r>
            <a:endParaRPr lang="en-US" sz="6000" dirty="0"/>
          </a:p>
        </p:txBody>
      </p:sp>
      <p:sp>
        <p:nvSpPr>
          <p:cNvPr id="4" name="Text 2"/>
          <p:cNvSpPr/>
          <p:nvPr/>
        </p:nvSpPr>
        <p:spPr>
          <a:xfrm>
            <a:off x="812800" y="3942085"/>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The everyday loop: edit → add → commit</a:t>
            </a:r>
            <a:endParaRPr lang="en-US" sz="2200" dirty="0"/>
          </a:p>
        </p:txBody>
      </p:sp>
      <p:sp>
        <p:nvSpPr>
          <p:cNvPr id="5" name="Text 3"/>
          <p:cNvSpPr/>
          <p:nvPr/>
        </p:nvSpPr>
        <p:spPr>
          <a:xfrm>
            <a:off x="812800" y="4508500"/>
            <a:ext cx="2022554" cy="375920"/>
          </a:xfrm>
          <a:prstGeom prst="roundRect">
            <a:avLst>
              <a:gd name="adj" fmla="val 50000"/>
            </a:avLst>
          </a:prstGeom>
          <a:solidFill>
            <a:srgbClr val="F7894F"/>
          </a:solidFill>
          <a:ln/>
        </p:spPr>
        <p:txBody>
          <a:bodyPr wrap="none" lIns="0" tIns="0" rIns="0" bIns="0" rtlCol="0" anchor="ctr">
            <a:normAutofit/>
          </a:bodyPr>
          <a:lstStyle/>
          <a:p>
            <a:pPr marL="0" indent="0" algn="ctr">
              <a:lnSpc>
                <a:spcPts val="1960"/>
              </a:lnSpc>
              <a:buNone/>
            </a:pP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COMMAND</a:t>
            </a:r>
            <a:endParaRPr lang="en-US" sz="1200" dirty="0"/>
          </a:p>
        </p:txBody>
      </p:sp>
      <p:sp>
        <p:nvSpPr>
          <p:cNvPr id="3" name="Text 1"/>
          <p:cNvSpPr/>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git init — start tracking a folder</a:t>
            </a:r>
            <a:endParaRPr lang="en-US" sz="3600" dirty="0"/>
          </a:p>
        </p:txBody>
      </p:sp>
      <p:sp>
        <p:nvSpPr>
          <p:cNvPr id="4" name="Text 2"/>
          <p:cNvSpPr/>
          <p:nvPr/>
        </p:nvSpPr>
        <p:spPr>
          <a:xfrm>
            <a:off x="812800" y="1935485"/>
            <a:ext cx="5153914"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Turns an ordinary folder into a Git repository by creating a hidden </a:t>
            </a:r>
            <a:r>
              <a:rPr lang="en-US" sz="1600" b="1" dirty="0">
                <a:solidFill>
                  <a:srgbClr val="1B1F2A"/>
                </a:solidFill>
                <a:latin typeface="IBM Plex Sans" pitchFamily="34" charset="0"/>
                <a:ea typeface="IBM Plex Sans" pitchFamily="34" charset="-122"/>
                <a:cs typeface="IBM Plex Sans" pitchFamily="34" charset="-120"/>
              </a:rPr>
              <a:t>.git</a:t>
            </a:r>
            <a:r>
              <a:rPr lang="en-US" sz="1600" dirty="0">
                <a:solidFill>
                  <a:srgbClr val="1B1F2A"/>
                </a:solidFill>
                <a:latin typeface="IBM Plex Sans" pitchFamily="34" charset="0"/>
                <a:ea typeface="IBM Plex Sans" pitchFamily="34" charset="-122"/>
                <a:cs typeface="IBM Plex Sans" pitchFamily="34" charset="-120"/>
              </a:rPr>
              <a:t> folder. That's where all history lives.</a:t>
            </a:r>
            <a:endParaRPr lang="en-US" sz="1600" dirty="0"/>
          </a:p>
        </p:txBody>
      </p:sp>
      <p:sp>
        <p:nvSpPr>
          <p:cNvPr id="5" name="Text 3"/>
          <p:cNvSpPr/>
          <p:nvPr/>
        </p:nvSpPr>
        <p:spPr>
          <a:xfrm>
            <a:off x="883920" y="2941327"/>
            <a:ext cx="5075174" cy="854075"/>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Run it </a:t>
            </a:r>
            <a:r>
              <a:rPr lang="en-US" sz="1500" b="1" dirty="0">
                <a:solidFill>
                  <a:srgbClr val="4A4F5C"/>
                </a:solidFill>
                <a:latin typeface="IBM Plex Sans" pitchFamily="34" charset="0"/>
                <a:ea typeface="IBM Plex Sans" pitchFamily="34" charset="-122"/>
                <a:cs typeface="IBM Plex Sans" pitchFamily="34" charset="-120"/>
              </a:rPr>
              <a:t>once per project</a:t>
            </a:r>
            <a:endParaRPr lang="en-US" sz="1500" dirty="0"/>
          </a:p>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Never delete the .git folder</a:t>
            </a:r>
            <a:endParaRPr lang="en-US" sz="1500" dirty="0"/>
          </a:p>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Don't run it in your home folder by mistake</a:t>
            </a:r>
            <a:endParaRPr lang="en-US" sz="1500" dirty="0"/>
          </a:p>
        </p:txBody>
      </p:sp>
      <p:sp>
        <p:nvSpPr>
          <p:cNvPr id="6" name="Shape 4"/>
          <p:cNvSpPr/>
          <p:nvPr/>
        </p:nvSpPr>
        <p:spPr>
          <a:xfrm>
            <a:off x="6172200" y="1957388"/>
            <a:ext cx="5207000" cy="1790700"/>
          </a:xfrm>
          <a:prstGeom prst="roundRect">
            <a:avLst>
              <a:gd name="adj" fmla="val 5674"/>
            </a:avLst>
          </a:prstGeom>
          <a:solidFill>
            <a:srgbClr val="20242F"/>
          </a:solidFill>
          <a:ln/>
        </p:spPr>
      </p:sp>
      <p:sp>
        <p:nvSpPr>
          <p:cNvPr id="7" name="Text 5"/>
          <p:cNvSpPr/>
          <p:nvPr/>
        </p:nvSpPr>
        <p:spPr>
          <a:xfrm>
            <a:off x="6451600" y="2185988"/>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mkdir my-first-repo</a:t>
            </a:r>
            <a:endParaRPr lang="en-US" sz="1400" dirty="0"/>
          </a:p>
        </p:txBody>
      </p:sp>
      <p:sp>
        <p:nvSpPr>
          <p:cNvPr id="8" name="Text 6"/>
          <p:cNvSpPr/>
          <p:nvPr/>
        </p:nvSpPr>
        <p:spPr>
          <a:xfrm>
            <a:off x="6451600" y="2452688"/>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cd my-first-repo</a:t>
            </a:r>
            <a:endParaRPr lang="en-US" sz="1400" dirty="0"/>
          </a:p>
        </p:txBody>
      </p:sp>
      <p:sp>
        <p:nvSpPr>
          <p:cNvPr id="9" name="Text 7"/>
          <p:cNvSpPr/>
          <p:nvPr/>
        </p:nvSpPr>
        <p:spPr>
          <a:xfrm>
            <a:off x="6451600" y="2719388"/>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init</a:t>
            </a:r>
            <a:endParaRPr lang="en-US" sz="1400" dirty="0"/>
          </a:p>
        </p:txBody>
      </p:sp>
      <p:sp>
        <p:nvSpPr>
          <p:cNvPr id="10" name="Text 8"/>
          <p:cNvSpPr/>
          <p:nvPr/>
        </p:nvSpPr>
        <p:spPr>
          <a:xfrm>
            <a:off x="6451600" y="2986088"/>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Initialized empty Git</a:t>
            </a:r>
            <a:endParaRPr lang="en-US" sz="1400" dirty="0"/>
          </a:p>
        </p:txBody>
      </p:sp>
      <p:sp>
        <p:nvSpPr>
          <p:cNvPr id="11" name="Text 9"/>
          <p:cNvSpPr/>
          <p:nvPr/>
        </p:nvSpPr>
        <p:spPr>
          <a:xfrm>
            <a:off x="6451600" y="3252788"/>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repository in .../.git/</a:t>
            </a:r>
            <a:endParaRPr lang="en-US" sz="1400" dirty="0"/>
          </a:p>
        </p:txBody>
      </p:sp>
      <p:sp>
        <p:nvSpPr>
          <p:cNvPr id="12" name="Text 10"/>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3" name="Text 11"/>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COMMAND</a:t>
            </a:r>
            <a:endParaRPr lang="en-US" sz="1200" dirty="0"/>
          </a:p>
        </p:txBody>
      </p:sp>
      <p:sp>
        <p:nvSpPr>
          <p:cNvPr id="3" name="Text 1"/>
          <p:cNvSpPr/>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git status — what's going on?</a:t>
            </a:r>
            <a:endParaRPr lang="en-US" sz="3600" dirty="0"/>
          </a:p>
        </p:txBody>
      </p:sp>
      <p:sp>
        <p:nvSpPr>
          <p:cNvPr id="4" name="Text 2"/>
          <p:cNvSpPr/>
          <p:nvPr/>
        </p:nvSpPr>
        <p:spPr>
          <a:xfrm>
            <a:off x="812800" y="2112963"/>
            <a:ext cx="515391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Your most-used command. It tells you:</a:t>
            </a:r>
            <a:endParaRPr lang="en-US" sz="1600" dirty="0"/>
          </a:p>
        </p:txBody>
      </p:sp>
      <p:sp>
        <p:nvSpPr>
          <p:cNvPr id="5" name="Text 3"/>
          <p:cNvSpPr/>
          <p:nvPr/>
        </p:nvSpPr>
        <p:spPr>
          <a:xfrm>
            <a:off x="883920" y="2549847"/>
            <a:ext cx="5075174" cy="854075"/>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Which branch you're on</a:t>
            </a:r>
            <a:endParaRPr lang="en-US" sz="1500" dirty="0"/>
          </a:p>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Which files are new or changed</a:t>
            </a:r>
            <a:endParaRPr lang="en-US" sz="1500" dirty="0"/>
          </a:p>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What's staged for the next commit</a:t>
            </a:r>
            <a:endParaRPr lang="en-US" sz="1500" dirty="0"/>
          </a:p>
        </p:txBody>
      </p:sp>
      <p:sp>
        <p:nvSpPr>
          <p:cNvPr id="6" name="Text 4"/>
          <p:cNvSpPr/>
          <p:nvPr/>
        </p:nvSpPr>
        <p:spPr>
          <a:xfrm>
            <a:off x="812800" y="3530922"/>
            <a:ext cx="515391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C2410C"/>
                </a:solidFill>
                <a:latin typeface="IBM Plex Sans" pitchFamily="34" charset="0"/>
                <a:ea typeface="IBM Plex Sans" pitchFamily="34" charset="-122"/>
                <a:cs typeface="IBM Plex Sans" pitchFamily="34" charset="-120"/>
              </a:rPr>
              <a:t>When in doubt, run git status.</a:t>
            </a:r>
            <a:endParaRPr lang="en-US" sz="1600" dirty="0"/>
          </a:p>
        </p:txBody>
      </p:sp>
      <p:sp>
        <p:nvSpPr>
          <p:cNvPr id="7" name="Shape 5"/>
          <p:cNvSpPr/>
          <p:nvPr/>
        </p:nvSpPr>
        <p:spPr>
          <a:xfrm>
            <a:off x="6172200" y="1935485"/>
            <a:ext cx="5207000" cy="2057400"/>
          </a:xfrm>
          <a:prstGeom prst="roundRect">
            <a:avLst>
              <a:gd name="adj" fmla="val 4938"/>
            </a:avLst>
          </a:prstGeom>
          <a:solidFill>
            <a:srgbClr val="20242F"/>
          </a:solidFill>
          <a:ln/>
        </p:spPr>
      </p:sp>
      <p:sp>
        <p:nvSpPr>
          <p:cNvPr id="8" name="Text 6"/>
          <p:cNvSpPr/>
          <p:nvPr/>
        </p:nvSpPr>
        <p:spPr>
          <a:xfrm>
            <a:off x="6451600" y="21640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status</a:t>
            </a:r>
            <a:endParaRPr lang="en-US" sz="1400" dirty="0"/>
          </a:p>
        </p:txBody>
      </p:sp>
      <p:sp>
        <p:nvSpPr>
          <p:cNvPr id="9" name="Text 7"/>
          <p:cNvSpPr/>
          <p:nvPr/>
        </p:nvSpPr>
        <p:spPr>
          <a:xfrm>
            <a:off x="6451600" y="24307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AE2"/>
                </a:solidFill>
                <a:latin typeface="JetBrains Mono" pitchFamily="34" charset="0"/>
                <a:ea typeface="JetBrains Mono" pitchFamily="34" charset="-122"/>
                <a:cs typeface="JetBrains Mono" pitchFamily="34" charset="-120"/>
              </a:rPr>
              <a:t>On branch main</a:t>
            </a:r>
            <a:endParaRPr lang="en-US" sz="1400" dirty="0"/>
          </a:p>
        </p:txBody>
      </p:sp>
      <p:sp>
        <p:nvSpPr>
          <p:cNvPr id="10" name="Text 8"/>
          <p:cNvSpPr/>
          <p:nvPr/>
        </p:nvSpPr>
        <p:spPr>
          <a:xfrm>
            <a:off x="6451600" y="26974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AE2"/>
                </a:solidFill>
                <a:latin typeface="JetBrains Mono" pitchFamily="34" charset="0"/>
                <a:ea typeface="JetBrains Mono" pitchFamily="34" charset="-122"/>
                <a:cs typeface="JetBrains Mono" pitchFamily="34" charset="-120"/>
              </a:rPr>
              <a:t>No commits yet</a:t>
            </a:r>
            <a:endParaRPr lang="en-US" sz="1400" dirty="0"/>
          </a:p>
        </p:txBody>
      </p:sp>
      <p:sp>
        <p:nvSpPr>
          <p:cNvPr id="11" name="Text 9"/>
          <p:cNvSpPr/>
          <p:nvPr/>
        </p:nvSpPr>
        <p:spPr>
          <a:xfrm>
            <a:off x="6451600" y="32308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AE2"/>
                </a:solidFill>
                <a:latin typeface="JetBrains Mono" pitchFamily="34" charset="0"/>
                <a:ea typeface="JetBrains Mono" pitchFamily="34" charset="-122"/>
                <a:cs typeface="JetBrains Mono" pitchFamily="34" charset="-120"/>
              </a:rPr>
              <a:t>Untracked files:</a:t>
            </a:r>
            <a:endParaRPr lang="en-US" sz="1400" dirty="0"/>
          </a:p>
        </p:txBody>
      </p:sp>
      <p:sp>
        <p:nvSpPr>
          <p:cNvPr id="12" name="Text 10"/>
          <p:cNvSpPr/>
          <p:nvPr/>
        </p:nvSpPr>
        <p:spPr>
          <a:xfrm>
            <a:off x="6451600" y="34975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        index.html</a:t>
            </a:r>
            <a:endParaRPr lang="en-US" sz="1400" dirty="0"/>
          </a:p>
        </p:txBody>
      </p:sp>
      <p:sp>
        <p:nvSpPr>
          <p:cNvPr id="13" name="Text 11"/>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4" name="Text 12"/>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COMMAND</a:t>
            </a:r>
            <a:endParaRPr lang="en-US" sz="1200" dirty="0"/>
          </a:p>
        </p:txBody>
      </p:sp>
      <p:sp>
        <p:nvSpPr>
          <p:cNvPr id="3" name="Text 1"/>
          <p:cNvSpPr/>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git add — put changes in the box</a:t>
            </a:r>
            <a:endParaRPr lang="en-US" sz="3600" dirty="0"/>
          </a:p>
        </p:txBody>
      </p:sp>
      <p:sp>
        <p:nvSpPr>
          <p:cNvPr id="4" name="Text 2"/>
          <p:cNvSpPr/>
          <p:nvPr/>
        </p:nvSpPr>
        <p:spPr>
          <a:xfrm>
            <a:off x="812800" y="1935485"/>
            <a:ext cx="515391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Moves changes into the </a:t>
            </a:r>
            <a:r>
              <a:rPr lang="en-US" sz="1600" b="1" dirty="0">
                <a:solidFill>
                  <a:srgbClr val="1B1F2A"/>
                </a:solidFill>
                <a:latin typeface="IBM Plex Sans" pitchFamily="34" charset="0"/>
                <a:ea typeface="IBM Plex Sans" pitchFamily="34" charset="-122"/>
                <a:cs typeface="IBM Plex Sans" pitchFamily="34" charset="-120"/>
              </a:rPr>
              <a:t>staging area</a:t>
            </a:r>
            <a:r>
              <a:rPr lang="en-US" sz="1600" dirty="0">
                <a:solidFill>
                  <a:srgbClr val="1B1F2A"/>
                </a:solidFill>
                <a:latin typeface="IBM Plex Sans" pitchFamily="34" charset="0"/>
                <a:ea typeface="IBM Plex Sans" pitchFamily="34" charset="-122"/>
                <a:cs typeface="IBM Plex Sans" pitchFamily="34" charset="-120"/>
              </a:rPr>
              <a:t>, ready to be committed.</a:t>
            </a:r>
            <a:endParaRPr lang="en-US" sz="1600" dirty="0"/>
          </a:p>
        </p:txBody>
      </p:sp>
      <p:sp>
        <p:nvSpPr>
          <p:cNvPr id="5" name="Text 3"/>
          <p:cNvSpPr/>
          <p:nvPr/>
        </p:nvSpPr>
        <p:spPr>
          <a:xfrm>
            <a:off x="883920" y="2656842"/>
            <a:ext cx="5075174" cy="577850"/>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b="1" dirty="0">
                <a:solidFill>
                  <a:srgbClr val="C2410C"/>
                </a:solidFill>
                <a:latin typeface="IBM Plex Sans" pitchFamily="34" charset="0"/>
                <a:ea typeface="IBM Plex Sans" pitchFamily="34" charset="-122"/>
                <a:cs typeface="IBM Plex Sans" pitchFamily="34" charset="-120"/>
              </a:rPr>
              <a:t>git add index.html</a:t>
            </a:r>
            <a:r>
              <a:rPr lang="en-US" sz="1500" dirty="0">
                <a:solidFill>
                  <a:srgbClr val="4A4F5C"/>
                </a:solidFill>
                <a:latin typeface="IBM Plex Sans" pitchFamily="34" charset="0"/>
                <a:ea typeface="IBM Plex Sans" pitchFamily="34" charset="-122"/>
                <a:cs typeface="IBM Plex Sans" pitchFamily="34" charset="-120"/>
              </a:rPr>
              <a:t> — one file</a:t>
            </a:r>
            <a:endParaRPr lang="en-US" sz="1500" dirty="0"/>
          </a:p>
          <a:p>
            <a:pPr marL="182880" indent="-182880" algn="l">
              <a:lnSpc>
                <a:spcPts val="2175"/>
              </a:lnSpc>
              <a:buSzPct val="100000"/>
              <a:buChar char="•"/>
            </a:pPr>
            <a:r>
              <a:rPr lang="en-US" sz="1500" b="1" dirty="0">
                <a:solidFill>
                  <a:srgbClr val="C2410C"/>
                </a:solidFill>
                <a:latin typeface="IBM Plex Sans" pitchFamily="34" charset="0"/>
                <a:ea typeface="IBM Plex Sans" pitchFamily="34" charset="-122"/>
                <a:cs typeface="IBM Plex Sans" pitchFamily="34" charset="-120"/>
              </a:rPr>
              <a:t>git add .</a:t>
            </a:r>
            <a:r>
              <a:rPr lang="en-US" sz="1500" dirty="0">
                <a:solidFill>
                  <a:srgbClr val="4A4F5C"/>
                </a:solidFill>
                <a:latin typeface="IBM Plex Sans" pitchFamily="34" charset="0"/>
                <a:ea typeface="IBM Plex Sans" pitchFamily="34" charset="-122"/>
                <a:cs typeface="IBM Plex Sans" pitchFamily="34" charset="-120"/>
              </a:rPr>
              <a:t> — everything in this folder</a:t>
            </a:r>
            <a:endParaRPr lang="en-US" sz="1500" dirty="0"/>
          </a:p>
        </p:txBody>
      </p:sp>
      <p:sp>
        <p:nvSpPr>
          <p:cNvPr id="6" name="Text 4"/>
          <p:cNvSpPr/>
          <p:nvPr/>
        </p:nvSpPr>
        <p:spPr>
          <a:xfrm>
            <a:off x="812800" y="3361692"/>
            <a:ext cx="515391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F5C"/>
                </a:solidFill>
                <a:latin typeface="IBM Plex Sans" pitchFamily="34" charset="0"/>
                <a:ea typeface="IBM Plex Sans" pitchFamily="34" charset="-122"/>
                <a:cs typeface="IBM Plex Sans" pitchFamily="34" charset="-120"/>
              </a:rPr>
              <a:t>Run git status afterwards: the file turns from “untracked” to “to be committed”.</a:t>
            </a:r>
            <a:endParaRPr lang="en-US" sz="1500" dirty="0"/>
          </a:p>
        </p:txBody>
      </p:sp>
      <p:sp>
        <p:nvSpPr>
          <p:cNvPr id="7" name="Shape 5"/>
          <p:cNvSpPr/>
          <p:nvPr/>
        </p:nvSpPr>
        <p:spPr>
          <a:xfrm>
            <a:off x="6172200" y="2019933"/>
            <a:ext cx="5207000" cy="1790700"/>
          </a:xfrm>
          <a:prstGeom prst="roundRect">
            <a:avLst>
              <a:gd name="adj" fmla="val 5674"/>
            </a:avLst>
          </a:prstGeom>
          <a:solidFill>
            <a:srgbClr val="20242F"/>
          </a:solidFill>
          <a:ln/>
        </p:spPr>
      </p:sp>
      <p:sp>
        <p:nvSpPr>
          <p:cNvPr id="8" name="Text 6"/>
          <p:cNvSpPr/>
          <p:nvPr/>
        </p:nvSpPr>
        <p:spPr>
          <a:xfrm>
            <a:off x="6451600" y="2248533"/>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add index.html</a:t>
            </a:r>
            <a:endParaRPr lang="en-US" sz="1400" dirty="0"/>
          </a:p>
        </p:txBody>
      </p:sp>
      <p:sp>
        <p:nvSpPr>
          <p:cNvPr id="9" name="Text 7"/>
          <p:cNvSpPr/>
          <p:nvPr/>
        </p:nvSpPr>
        <p:spPr>
          <a:xfrm>
            <a:off x="6451600" y="2515233"/>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status</a:t>
            </a:r>
            <a:endParaRPr lang="en-US" sz="1400" dirty="0"/>
          </a:p>
        </p:txBody>
      </p:sp>
      <p:sp>
        <p:nvSpPr>
          <p:cNvPr id="10" name="Text 8"/>
          <p:cNvSpPr/>
          <p:nvPr/>
        </p:nvSpPr>
        <p:spPr>
          <a:xfrm>
            <a:off x="6451600" y="2781933"/>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AE2"/>
                </a:solidFill>
                <a:latin typeface="JetBrains Mono" pitchFamily="34" charset="0"/>
                <a:ea typeface="JetBrains Mono" pitchFamily="34" charset="-122"/>
                <a:cs typeface="JetBrains Mono" pitchFamily="34" charset="-120"/>
              </a:rPr>
              <a:t>On branch main</a:t>
            </a:r>
            <a:endParaRPr lang="en-US" sz="1400" dirty="0"/>
          </a:p>
        </p:txBody>
      </p:sp>
      <p:sp>
        <p:nvSpPr>
          <p:cNvPr id="11" name="Text 9"/>
          <p:cNvSpPr/>
          <p:nvPr/>
        </p:nvSpPr>
        <p:spPr>
          <a:xfrm>
            <a:off x="6451600" y="3048633"/>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AE2"/>
                </a:solidFill>
                <a:latin typeface="JetBrains Mono" pitchFamily="34" charset="0"/>
                <a:ea typeface="JetBrains Mono" pitchFamily="34" charset="-122"/>
                <a:cs typeface="JetBrains Mono" pitchFamily="34" charset="-120"/>
              </a:rPr>
              <a:t>Changes to be committed:</a:t>
            </a:r>
            <a:endParaRPr lang="en-US" sz="1400" dirty="0"/>
          </a:p>
        </p:txBody>
      </p:sp>
      <p:sp>
        <p:nvSpPr>
          <p:cNvPr id="12" name="Text 10"/>
          <p:cNvSpPr/>
          <p:nvPr/>
        </p:nvSpPr>
        <p:spPr>
          <a:xfrm>
            <a:off x="6451600" y="3315333"/>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   new file: index.html</a:t>
            </a:r>
            <a:endParaRPr lang="en-US" sz="1400" dirty="0"/>
          </a:p>
        </p:txBody>
      </p:sp>
      <p:sp>
        <p:nvSpPr>
          <p:cNvPr id="13" name="Text 11"/>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4" name="Text 12"/>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COMMAND</a:t>
            </a:r>
            <a:endParaRPr lang="en-US" sz="1200" dirty="0"/>
          </a:p>
        </p:txBody>
      </p:sp>
      <p:sp>
        <p:nvSpPr>
          <p:cNvPr id="3" name="Text 1"/>
          <p:cNvSpPr/>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git commit — take the snapshot</a:t>
            </a:r>
            <a:endParaRPr lang="en-US" sz="3600" dirty="0"/>
          </a:p>
        </p:txBody>
      </p:sp>
      <p:sp>
        <p:nvSpPr>
          <p:cNvPr id="4" name="Shape 2"/>
          <p:cNvSpPr/>
          <p:nvPr/>
        </p:nvSpPr>
        <p:spPr>
          <a:xfrm>
            <a:off x="812800" y="1935485"/>
            <a:ext cx="10566400" cy="1257300"/>
          </a:xfrm>
          <a:prstGeom prst="roundRect">
            <a:avLst>
              <a:gd name="adj" fmla="val 8081"/>
            </a:avLst>
          </a:prstGeom>
          <a:solidFill>
            <a:srgbClr val="20242F"/>
          </a:solidFill>
          <a:ln/>
        </p:spPr>
      </p:sp>
      <p:sp>
        <p:nvSpPr>
          <p:cNvPr id="5" name="Text 3"/>
          <p:cNvSpPr/>
          <p:nvPr/>
        </p:nvSpPr>
        <p:spPr>
          <a:xfrm>
            <a:off x="1092200" y="2164085"/>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commit -m "Add homepage"</a:t>
            </a:r>
            <a:endParaRPr lang="en-US" sz="1400" dirty="0"/>
          </a:p>
        </p:txBody>
      </p:sp>
      <p:sp>
        <p:nvSpPr>
          <p:cNvPr id="6" name="Text 4"/>
          <p:cNvSpPr/>
          <p:nvPr/>
        </p:nvSpPr>
        <p:spPr>
          <a:xfrm>
            <a:off x="1092200" y="2430785"/>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[main (root-commit) 3f9a2c1] Add homepage</a:t>
            </a:r>
            <a:endParaRPr lang="en-US" sz="1400" dirty="0"/>
          </a:p>
        </p:txBody>
      </p:sp>
      <p:sp>
        <p:nvSpPr>
          <p:cNvPr id="7" name="Text 5"/>
          <p:cNvSpPr/>
          <p:nvPr/>
        </p:nvSpPr>
        <p:spPr>
          <a:xfrm>
            <a:off x="1092200" y="2697485"/>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 1 file changed, 10 insertions(+)</a:t>
            </a:r>
            <a:endParaRPr lang="en-US" sz="1400" dirty="0"/>
          </a:p>
        </p:txBody>
      </p:sp>
      <p:sp>
        <p:nvSpPr>
          <p:cNvPr id="8" name="Shape 6"/>
          <p:cNvSpPr/>
          <p:nvPr/>
        </p:nvSpPr>
        <p:spPr>
          <a:xfrm>
            <a:off x="815975" y="3500760"/>
            <a:ext cx="3380264" cy="1685290"/>
          </a:xfrm>
          <a:prstGeom prst="roundRect">
            <a:avLst>
              <a:gd name="adj" fmla="val 5840"/>
            </a:avLst>
          </a:prstGeom>
          <a:solidFill>
            <a:srgbClr val="FFFDF8"/>
          </a:solidFill>
          <a:ln w="6350">
            <a:solidFill>
              <a:srgbClr val="E2DDD0"/>
            </a:solidFill>
            <a:prstDash val="solid"/>
          </a:ln>
        </p:spPr>
      </p:sp>
      <p:pic>
        <p:nvPicPr>
          <p:cNvPr id="9" name="Image 0" descr="Chat"/>
          <p:cNvPicPr>
            <a:picLocks noChangeAspect="1"/>
          </p:cNvPicPr>
          <p:nvPr/>
        </p:nvPicPr>
        <p:blipFill>
          <a:blip r:embed="rId3"/>
          <a:srcRect/>
          <a:stretch/>
        </p:blipFill>
        <p:spPr>
          <a:xfrm>
            <a:off x="1046480" y="3731258"/>
            <a:ext cx="304800" cy="304800"/>
          </a:xfrm>
          <a:prstGeom prst="rect">
            <a:avLst/>
          </a:prstGeom>
        </p:spPr>
      </p:pic>
      <p:sp>
        <p:nvSpPr>
          <p:cNvPr id="10" name="Text 7"/>
          <p:cNvSpPr/>
          <p:nvPr/>
        </p:nvSpPr>
        <p:spPr>
          <a:xfrm>
            <a:off x="1046480" y="4124958"/>
            <a:ext cx="300683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-m “message”</a:t>
            </a:r>
            <a:endParaRPr lang="en-US" sz="1600" dirty="0"/>
          </a:p>
        </p:txBody>
      </p:sp>
      <p:sp>
        <p:nvSpPr>
          <p:cNvPr id="11" name="Text 8"/>
          <p:cNvSpPr/>
          <p:nvPr/>
        </p:nvSpPr>
        <p:spPr>
          <a:xfrm>
            <a:off x="1046480" y="4457700"/>
            <a:ext cx="300683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Your description of the change. Always write one.</a:t>
            </a:r>
            <a:endParaRPr lang="en-US" sz="1400" dirty="0"/>
          </a:p>
        </p:txBody>
      </p:sp>
      <p:sp>
        <p:nvSpPr>
          <p:cNvPr id="12" name="Shape 9"/>
          <p:cNvSpPr/>
          <p:nvPr/>
        </p:nvSpPr>
        <p:spPr>
          <a:xfrm>
            <a:off x="4405789" y="3500760"/>
            <a:ext cx="3380343" cy="1685290"/>
          </a:xfrm>
          <a:prstGeom prst="roundRect">
            <a:avLst>
              <a:gd name="adj" fmla="val 5840"/>
            </a:avLst>
          </a:prstGeom>
          <a:solidFill>
            <a:srgbClr val="FFFDF8"/>
          </a:solidFill>
          <a:ln w="6350">
            <a:solidFill>
              <a:srgbClr val="E2DDD0"/>
            </a:solidFill>
            <a:prstDash val="solid"/>
          </a:ln>
        </p:spPr>
      </p:sp>
      <p:pic>
        <p:nvPicPr>
          <p:cNvPr id="13" name="Image 1" descr="Warning"/>
          <p:cNvPicPr>
            <a:picLocks noChangeAspect="1"/>
          </p:cNvPicPr>
          <p:nvPr/>
        </p:nvPicPr>
        <p:blipFill>
          <a:blip r:embed="rId4"/>
          <a:srcRect/>
          <a:stretch/>
        </p:blipFill>
        <p:spPr>
          <a:xfrm>
            <a:off x="4636294" y="3731258"/>
            <a:ext cx="304800" cy="304800"/>
          </a:xfrm>
          <a:prstGeom prst="rect">
            <a:avLst/>
          </a:prstGeom>
        </p:spPr>
      </p:pic>
      <p:sp>
        <p:nvSpPr>
          <p:cNvPr id="14" name="Text 10"/>
          <p:cNvSpPr/>
          <p:nvPr/>
        </p:nvSpPr>
        <p:spPr>
          <a:xfrm>
            <a:off x="4636294" y="4124958"/>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Forgot -m?</a:t>
            </a:r>
            <a:endParaRPr lang="en-US" sz="1600" dirty="0"/>
          </a:p>
        </p:txBody>
      </p:sp>
      <p:sp>
        <p:nvSpPr>
          <p:cNvPr id="15" name="Text 11"/>
          <p:cNvSpPr/>
          <p:nvPr/>
        </p:nvSpPr>
        <p:spPr>
          <a:xfrm>
            <a:off x="4636294" y="4457700"/>
            <a:ext cx="30069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Git opens a text editor. If it's Vim: press Esc, type :wq and press Enter.</a:t>
            </a:r>
            <a:endParaRPr lang="en-US" sz="1400" dirty="0"/>
          </a:p>
        </p:txBody>
      </p:sp>
      <p:sp>
        <p:nvSpPr>
          <p:cNvPr id="16" name="Shape 12"/>
          <p:cNvSpPr/>
          <p:nvPr/>
        </p:nvSpPr>
        <p:spPr>
          <a:xfrm>
            <a:off x="7995682" y="3500760"/>
            <a:ext cx="3380343" cy="1685290"/>
          </a:xfrm>
          <a:prstGeom prst="roundRect">
            <a:avLst>
              <a:gd name="adj" fmla="val 5840"/>
            </a:avLst>
          </a:prstGeom>
          <a:solidFill>
            <a:srgbClr val="FFFDF8"/>
          </a:solidFill>
          <a:ln w="6350">
            <a:solidFill>
              <a:srgbClr val="E2DDD0"/>
            </a:solidFill>
            <a:prstDash val="solid"/>
          </a:ln>
        </p:spPr>
      </p:sp>
      <p:pic>
        <p:nvPicPr>
          <p:cNvPr id="17" name="Image 2" descr="Check"/>
          <p:cNvPicPr>
            <a:picLocks noChangeAspect="1"/>
          </p:cNvPicPr>
          <p:nvPr/>
        </p:nvPicPr>
        <p:blipFill>
          <a:blip r:embed="rId5"/>
          <a:srcRect/>
          <a:stretch/>
        </p:blipFill>
        <p:spPr>
          <a:xfrm>
            <a:off x="8226187" y="3731258"/>
            <a:ext cx="304800" cy="304800"/>
          </a:xfrm>
          <a:prstGeom prst="rect">
            <a:avLst/>
          </a:prstGeom>
        </p:spPr>
      </p:pic>
      <p:sp>
        <p:nvSpPr>
          <p:cNvPr id="18" name="Text 13"/>
          <p:cNvSpPr/>
          <p:nvPr/>
        </p:nvSpPr>
        <p:spPr>
          <a:xfrm>
            <a:off x="8226187" y="4124958"/>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Only what's staged</a:t>
            </a:r>
            <a:endParaRPr lang="en-US" sz="1600" dirty="0"/>
          </a:p>
        </p:txBody>
      </p:sp>
      <p:sp>
        <p:nvSpPr>
          <p:cNvPr id="19" name="Text 14"/>
          <p:cNvSpPr/>
          <p:nvPr/>
        </p:nvSpPr>
        <p:spPr>
          <a:xfrm>
            <a:off x="8226187" y="4457700"/>
            <a:ext cx="30069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A commit includes the staged changes — nothing else.</a:t>
            </a:r>
            <a:endParaRPr lang="en-US" sz="1400" dirty="0"/>
          </a:p>
        </p:txBody>
      </p:sp>
      <p:sp>
        <p:nvSpPr>
          <p:cNvPr id="20" name="Text 15"/>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1" name="Text 16"/>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COMMAND</a:t>
            </a:r>
            <a:endParaRPr lang="en-US" sz="1200" dirty="0"/>
          </a:p>
        </p:txBody>
      </p:sp>
      <p:sp>
        <p:nvSpPr>
          <p:cNvPr id="3" name="Text 1"/>
          <p:cNvSpPr/>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git log — see the history</a:t>
            </a:r>
            <a:endParaRPr lang="en-US" sz="3600" dirty="0"/>
          </a:p>
        </p:txBody>
      </p:sp>
      <p:sp>
        <p:nvSpPr>
          <p:cNvPr id="4" name="Text 2"/>
          <p:cNvSpPr/>
          <p:nvPr/>
        </p:nvSpPr>
        <p:spPr>
          <a:xfrm>
            <a:off x="812800" y="2198055"/>
            <a:ext cx="515391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Lists commits, newest first.</a:t>
            </a:r>
            <a:endParaRPr lang="en-US" sz="1600" dirty="0"/>
          </a:p>
        </p:txBody>
      </p:sp>
      <p:sp>
        <p:nvSpPr>
          <p:cNvPr id="5" name="Text 3"/>
          <p:cNvSpPr/>
          <p:nvPr/>
        </p:nvSpPr>
        <p:spPr>
          <a:xfrm>
            <a:off x="883920" y="2634940"/>
            <a:ext cx="5075174" cy="854075"/>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b="1" dirty="0">
                <a:solidFill>
                  <a:srgbClr val="C2410C"/>
                </a:solidFill>
                <a:latin typeface="IBM Plex Sans" pitchFamily="34" charset="0"/>
                <a:ea typeface="IBM Plex Sans" pitchFamily="34" charset="-122"/>
                <a:cs typeface="IBM Plex Sans" pitchFamily="34" charset="-120"/>
              </a:rPr>
              <a:t>git log</a:t>
            </a:r>
            <a:r>
              <a:rPr lang="en-US" sz="1500" dirty="0">
                <a:solidFill>
                  <a:srgbClr val="4A4F5C"/>
                </a:solidFill>
                <a:latin typeface="IBM Plex Sans" pitchFamily="34" charset="0"/>
                <a:ea typeface="IBM Plex Sans" pitchFamily="34" charset="-122"/>
                <a:cs typeface="IBM Plex Sans" pitchFamily="34" charset="-120"/>
              </a:rPr>
              <a:t> — full details</a:t>
            </a:r>
            <a:endParaRPr lang="en-US" sz="1500" dirty="0"/>
          </a:p>
          <a:p>
            <a:pPr marL="182880" indent="-182880" algn="l">
              <a:lnSpc>
                <a:spcPts val="2175"/>
              </a:lnSpc>
              <a:buSzPct val="100000"/>
              <a:buChar char="•"/>
            </a:pPr>
            <a:r>
              <a:rPr lang="en-US" sz="1500" b="1" dirty="0">
                <a:solidFill>
                  <a:srgbClr val="C2410C"/>
                </a:solidFill>
                <a:latin typeface="IBM Plex Sans" pitchFamily="34" charset="0"/>
                <a:ea typeface="IBM Plex Sans" pitchFamily="34" charset="-122"/>
                <a:cs typeface="IBM Plex Sans" pitchFamily="34" charset="-120"/>
              </a:rPr>
              <a:t>git log --oneline</a:t>
            </a:r>
            <a:r>
              <a:rPr lang="en-US" sz="1500" dirty="0">
                <a:solidFill>
                  <a:srgbClr val="4A4F5C"/>
                </a:solidFill>
                <a:latin typeface="IBM Plex Sans" pitchFamily="34" charset="0"/>
                <a:ea typeface="IBM Plex Sans" pitchFamily="34" charset="-122"/>
                <a:cs typeface="IBM Plex Sans" pitchFamily="34" charset="-120"/>
              </a:rPr>
              <a:t> — one line each</a:t>
            </a:r>
            <a:endParaRPr lang="en-US" sz="1500" dirty="0"/>
          </a:p>
          <a:p>
            <a:pPr marL="182880" indent="-182880" algn="l">
              <a:lnSpc>
                <a:spcPts val="2175"/>
              </a:lnSpc>
              <a:buSzPct val="100000"/>
              <a:buChar char="•"/>
            </a:pPr>
            <a:r>
              <a:rPr lang="en-US" sz="1500" dirty="0">
                <a:solidFill>
                  <a:srgbClr val="4A4F5C"/>
                </a:solidFill>
                <a:latin typeface="IBM Plex Sans" pitchFamily="34" charset="0"/>
                <a:ea typeface="IBM Plex Sans" pitchFamily="34" charset="-122"/>
                <a:cs typeface="IBM Plex Sans" pitchFamily="34" charset="-120"/>
              </a:rPr>
              <a:t>Press </a:t>
            </a:r>
            <a:r>
              <a:rPr lang="en-US" sz="1500" b="1" dirty="0">
                <a:solidFill>
                  <a:srgbClr val="4A4F5C"/>
                </a:solidFill>
                <a:latin typeface="IBM Plex Sans" pitchFamily="34" charset="0"/>
                <a:ea typeface="IBM Plex Sans" pitchFamily="34" charset="-122"/>
                <a:cs typeface="IBM Plex Sans" pitchFamily="34" charset="-120"/>
              </a:rPr>
              <a:t>q</a:t>
            </a:r>
            <a:r>
              <a:rPr lang="en-US" sz="1500" dirty="0">
                <a:solidFill>
                  <a:srgbClr val="4A4F5C"/>
                </a:solidFill>
                <a:latin typeface="IBM Plex Sans" pitchFamily="34" charset="0"/>
                <a:ea typeface="IBM Plex Sans" pitchFamily="34" charset="-122"/>
                <a:cs typeface="IBM Plex Sans" pitchFamily="34" charset="-120"/>
              </a:rPr>
              <a:t> to quit the list</a:t>
            </a:r>
            <a:endParaRPr lang="en-US" sz="1500" dirty="0"/>
          </a:p>
        </p:txBody>
      </p:sp>
      <p:sp>
        <p:nvSpPr>
          <p:cNvPr id="6" name="Shape 4"/>
          <p:cNvSpPr/>
          <p:nvPr/>
        </p:nvSpPr>
        <p:spPr>
          <a:xfrm>
            <a:off x="6172200" y="1935485"/>
            <a:ext cx="5207000" cy="1790700"/>
          </a:xfrm>
          <a:prstGeom prst="roundRect">
            <a:avLst>
              <a:gd name="adj" fmla="val 5674"/>
            </a:avLst>
          </a:prstGeom>
          <a:solidFill>
            <a:srgbClr val="20242F"/>
          </a:solidFill>
          <a:ln/>
        </p:spPr>
      </p:sp>
      <p:sp>
        <p:nvSpPr>
          <p:cNvPr id="7" name="Text 5"/>
          <p:cNvSpPr/>
          <p:nvPr/>
        </p:nvSpPr>
        <p:spPr>
          <a:xfrm>
            <a:off x="6451600" y="21640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log --oneline</a:t>
            </a:r>
            <a:endParaRPr lang="en-US" sz="1400" dirty="0"/>
          </a:p>
        </p:txBody>
      </p:sp>
      <p:sp>
        <p:nvSpPr>
          <p:cNvPr id="8" name="Text 6"/>
          <p:cNvSpPr/>
          <p:nvPr/>
        </p:nvSpPr>
        <p:spPr>
          <a:xfrm>
            <a:off x="6451600" y="24307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e05b7f1 Add contact form</a:t>
            </a:r>
            <a:endParaRPr lang="en-US" sz="1400" dirty="0"/>
          </a:p>
        </p:txBody>
      </p:sp>
      <p:sp>
        <p:nvSpPr>
          <p:cNvPr id="9" name="Text 7"/>
          <p:cNvSpPr/>
          <p:nvPr/>
        </p:nvSpPr>
        <p:spPr>
          <a:xfrm>
            <a:off x="6451600" y="26974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c94e2aa Fix broken link</a:t>
            </a:r>
            <a:endParaRPr lang="en-US" sz="1400" dirty="0"/>
          </a:p>
        </p:txBody>
      </p:sp>
      <p:sp>
        <p:nvSpPr>
          <p:cNvPr id="10" name="Text 8"/>
          <p:cNvSpPr/>
          <p:nvPr/>
        </p:nvSpPr>
        <p:spPr>
          <a:xfrm>
            <a:off x="6451600" y="29641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7b2d410 Add about page</a:t>
            </a:r>
            <a:endParaRPr lang="en-US" sz="1400" dirty="0"/>
          </a:p>
        </p:txBody>
      </p:sp>
      <p:sp>
        <p:nvSpPr>
          <p:cNvPr id="11" name="Text 9"/>
          <p:cNvSpPr/>
          <p:nvPr/>
        </p:nvSpPr>
        <p:spPr>
          <a:xfrm>
            <a:off x="6451600" y="3230885"/>
            <a:ext cx="47876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D8AE"/>
                </a:solidFill>
                <a:latin typeface="JetBrains Mono" pitchFamily="34" charset="0"/>
                <a:ea typeface="JetBrains Mono" pitchFamily="34" charset="-122"/>
                <a:cs typeface="JetBrains Mono" pitchFamily="34" charset="-120"/>
              </a:rPr>
              <a:t>3f9a2c1 Add homepage</a:t>
            </a:r>
            <a:endParaRPr lang="en-US" sz="1400" dirty="0"/>
          </a:p>
        </p:txBody>
      </p:sp>
      <p:sp>
        <p:nvSpPr>
          <p:cNvPr id="12" name="Text 10"/>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3" name="Text 11"/>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PUT IT TOGETHER</a:t>
            </a:r>
            <a:endParaRPr lang="en-US" sz="1200" dirty="0"/>
          </a:p>
        </p:txBody>
      </p:sp>
      <p:sp>
        <p:nvSpPr>
          <p:cNvPr id="3" name="Text 1"/>
          <p:cNvSpPr/>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The everyday loop</a:t>
            </a:r>
            <a:endParaRPr lang="en-US" sz="3600" dirty="0"/>
          </a:p>
        </p:txBody>
      </p:sp>
      <p:sp>
        <p:nvSpPr>
          <p:cNvPr id="4" name="Shape 2"/>
          <p:cNvSpPr/>
          <p:nvPr/>
        </p:nvSpPr>
        <p:spPr>
          <a:xfrm>
            <a:off x="815975" y="1938660"/>
            <a:ext cx="3109357" cy="1176020"/>
          </a:xfrm>
          <a:prstGeom prst="roundRect">
            <a:avLst>
              <a:gd name="adj" fmla="val 8369"/>
            </a:avLst>
          </a:prstGeom>
          <a:solidFill>
            <a:srgbClr val="FFFDF8"/>
          </a:solidFill>
          <a:ln w="6350">
            <a:solidFill>
              <a:srgbClr val="E2DDD0"/>
            </a:solidFill>
            <a:prstDash val="solid"/>
          </a:ln>
        </p:spPr>
      </p:sp>
      <p:sp>
        <p:nvSpPr>
          <p:cNvPr id="5" name="Text 3"/>
          <p:cNvSpPr/>
          <p:nvPr/>
        </p:nvSpPr>
        <p:spPr>
          <a:xfrm>
            <a:off x="1940719" y="2194558"/>
            <a:ext cx="137183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A"/>
                </a:solidFill>
                <a:latin typeface="Space Grotesk" pitchFamily="34" charset="0"/>
                <a:ea typeface="Space Grotesk" pitchFamily="34" charset="-122"/>
                <a:cs typeface="Space Grotesk" pitchFamily="34" charset="-120"/>
              </a:rPr>
              <a:t>1 · Edit</a:t>
            </a:r>
            <a:endParaRPr lang="en-US" sz="2200" dirty="0"/>
          </a:p>
        </p:txBody>
      </p:sp>
      <p:sp>
        <p:nvSpPr>
          <p:cNvPr id="6" name="Text 4"/>
          <p:cNvSpPr/>
          <p:nvPr/>
        </p:nvSpPr>
        <p:spPr>
          <a:xfrm>
            <a:off x="1488656" y="2563944"/>
            <a:ext cx="2131876" cy="265430"/>
          </a:xfrm>
          <a:prstGeom prst="rect">
            <a:avLst/>
          </a:prstGeom>
          <a:noFill/>
          <a:ln/>
        </p:spPr>
        <p:txBody>
          <a:bodyPr wrap="square" lIns="0" tIns="0" rIns="0" bIns="0" rtlCol="0" anchor="t">
            <a:normAutofit/>
          </a:bodyPr>
          <a:lstStyle/>
          <a:p>
            <a:pPr marL="0" indent="0" algn="ctr">
              <a:lnSpc>
                <a:spcPts val="1890"/>
              </a:lnSpc>
              <a:buNone/>
            </a:pPr>
            <a:r>
              <a:rPr lang="en-US" sz="1400" dirty="0">
                <a:solidFill>
                  <a:srgbClr val="4A4F5C"/>
                </a:solidFill>
                <a:latin typeface="IBM Plex Sans" pitchFamily="34" charset="0"/>
                <a:ea typeface="IBM Plex Sans" pitchFamily="34" charset="-122"/>
                <a:cs typeface="IBM Plex Sans" pitchFamily="34" charset="-120"/>
              </a:rPr>
              <a:t>Change files in your editor</a:t>
            </a:r>
            <a:endParaRPr lang="en-US" sz="1400" dirty="0"/>
          </a:p>
        </p:txBody>
      </p:sp>
      <p:pic>
        <p:nvPicPr>
          <p:cNvPr id="7" name="Image 0" descr="connector"/>
          <p:cNvPicPr>
            <a:picLocks noChangeAspect="1"/>
          </p:cNvPicPr>
          <p:nvPr/>
        </p:nvPicPr>
        <p:blipFill>
          <a:blip r:embed="rId3"/>
          <a:srcRect/>
          <a:stretch/>
        </p:blipFill>
        <p:spPr>
          <a:xfrm>
            <a:off x="3928507" y="2431417"/>
            <a:ext cx="609600" cy="190500"/>
          </a:xfrm>
          <a:prstGeom prst="rect">
            <a:avLst/>
          </a:prstGeom>
        </p:spPr>
      </p:pic>
      <p:sp>
        <p:nvSpPr>
          <p:cNvPr id="8" name="Shape 5"/>
          <p:cNvSpPr/>
          <p:nvPr/>
        </p:nvSpPr>
        <p:spPr>
          <a:xfrm>
            <a:off x="4541282" y="1938660"/>
            <a:ext cx="3109436" cy="1176020"/>
          </a:xfrm>
          <a:prstGeom prst="roundRect">
            <a:avLst>
              <a:gd name="adj" fmla="val 8369"/>
            </a:avLst>
          </a:prstGeom>
          <a:solidFill>
            <a:srgbClr val="FFFDF8"/>
          </a:solidFill>
          <a:ln w="6350">
            <a:solidFill>
              <a:srgbClr val="E2DDD0"/>
            </a:solidFill>
            <a:prstDash val="solid"/>
          </a:ln>
        </p:spPr>
      </p:sp>
      <p:sp>
        <p:nvSpPr>
          <p:cNvPr id="9" name="Text 6"/>
          <p:cNvSpPr/>
          <p:nvPr/>
        </p:nvSpPr>
        <p:spPr>
          <a:xfrm>
            <a:off x="5429329" y="2194558"/>
            <a:ext cx="13841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A"/>
                </a:solidFill>
                <a:latin typeface="Space Grotesk" pitchFamily="34" charset="0"/>
                <a:ea typeface="Space Grotesk" pitchFamily="34" charset="-122"/>
                <a:cs typeface="Space Grotesk" pitchFamily="34" charset="-120"/>
              </a:rPr>
              <a:t>2 · git add</a:t>
            </a:r>
            <a:endParaRPr lang="en-US" sz="2200" dirty="0"/>
          </a:p>
        </p:txBody>
      </p:sp>
      <p:sp>
        <p:nvSpPr>
          <p:cNvPr id="10" name="Text 7"/>
          <p:cNvSpPr/>
          <p:nvPr/>
        </p:nvSpPr>
        <p:spPr>
          <a:xfrm>
            <a:off x="4950104" y="2618742"/>
            <a:ext cx="2291791" cy="265430"/>
          </a:xfrm>
          <a:prstGeom prst="rect">
            <a:avLst/>
          </a:prstGeom>
          <a:noFill/>
          <a:ln/>
        </p:spPr>
        <p:txBody>
          <a:bodyPr wrap="square" lIns="0" tIns="0" rIns="0" bIns="0" rtlCol="0" anchor="t">
            <a:normAutofit/>
          </a:bodyPr>
          <a:lstStyle/>
          <a:p>
            <a:pPr marL="0" indent="0" algn="ctr">
              <a:lnSpc>
                <a:spcPts val="1890"/>
              </a:lnSpc>
              <a:buNone/>
            </a:pPr>
            <a:r>
              <a:rPr lang="en-US" sz="1400" dirty="0">
                <a:solidFill>
                  <a:srgbClr val="4A4F5C"/>
                </a:solidFill>
                <a:latin typeface="IBM Plex Sans" pitchFamily="34" charset="0"/>
                <a:ea typeface="IBM Plex Sans" pitchFamily="34" charset="-122"/>
                <a:cs typeface="IBM Plex Sans" pitchFamily="34" charset="-120"/>
              </a:rPr>
              <a:t>Stage the changes you want</a:t>
            </a:r>
            <a:endParaRPr lang="en-US" sz="1400" dirty="0"/>
          </a:p>
        </p:txBody>
      </p:sp>
      <p:pic>
        <p:nvPicPr>
          <p:cNvPr id="11" name="Image 1" descr="connector"/>
          <p:cNvPicPr>
            <a:picLocks noChangeAspect="1"/>
          </p:cNvPicPr>
          <p:nvPr/>
        </p:nvPicPr>
        <p:blipFill>
          <a:blip r:embed="rId3"/>
          <a:srcRect/>
          <a:stretch/>
        </p:blipFill>
        <p:spPr>
          <a:xfrm>
            <a:off x="7653893" y="2431417"/>
            <a:ext cx="609600" cy="190500"/>
          </a:xfrm>
          <a:prstGeom prst="rect">
            <a:avLst/>
          </a:prstGeom>
        </p:spPr>
      </p:pic>
      <p:sp>
        <p:nvSpPr>
          <p:cNvPr id="12" name="Shape 8"/>
          <p:cNvSpPr/>
          <p:nvPr/>
        </p:nvSpPr>
        <p:spPr>
          <a:xfrm>
            <a:off x="8266668" y="1938660"/>
            <a:ext cx="3109357" cy="1176020"/>
          </a:xfrm>
          <a:prstGeom prst="roundRect">
            <a:avLst>
              <a:gd name="adj" fmla="val 8369"/>
            </a:avLst>
          </a:prstGeom>
          <a:solidFill>
            <a:srgbClr val="FFFDF8"/>
          </a:solidFill>
          <a:ln w="6350">
            <a:solidFill>
              <a:srgbClr val="E2DDD0"/>
            </a:solidFill>
            <a:prstDash val="solid"/>
          </a:ln>
        </p:spPr>
      </p:sp>
      <p:sp>
        <p:nvSpPr>
          <p:cNvPr id="13" name="Text 9"/>
          <p:cNvSpPr/>
          <p:nvPr/>
        </p:nvSpPr>
        <p:spPr>
          <a:xfrm>
            <a:off x="8903653" y="2194558"/>
            <a:ext cx="189045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A"/>
                </a:solidFill>
                <a:latin typeface="Space Grotesk" pitchFamily="34" charset="0"/>
                <a:ea typeface="Space Grotesk" pitchFamily="34" charset="-122"/>
                <a:cs typeface="Space Grotesk" pitchFamily="34" charset="-120"/>
              </a:rPr>
              <a:t>3 · git commit</a:t>
            </a:r>
            <a:endParaRPr lang="en-US" sz="2200" dirty="0"/>
          </a:p>
        </p:txBody>
      </p:sp>
      <p:sp>
        <p:nvSpPr>
          <p:cNvPr id="14" name="Text 10"/>
          <p:cNvSpPr/>
          <p:nvPr/>
        </p:nvSpPr>
        <p:spPr>
          <a:xfrm>
            <a:off x="8497673" y="2618742"/>
            <a:ext cx="2647267" cy="265430"/>
          </a:xfrm>
          <a:prstGeom prst="rect">
            <a:avLst/>
          </a:prstGeom>
          <a:noFill/>
          <a:ln/>
        </p:spPr>
        <p:txBody>
          <a:bodyPr wrap="square" lIns="0" tIns="0" rIns="0" bIns="0" rtlCol="0" anchor="t">
            <a:normAutofit/>
          </a:bodyPr>
          <a:lstStyle/>
          <a:p>
            <a:pPr marL="0" indent="0" algn="ctr">
              <a:lnSpc>
                <a:spcPts val="1890"/>
              </a:lnSpc>
              <a:buNone/>
            </a:pPr>
            <a:r>
              <a:rPr lang="en-US" sz="1400" dirty="0">
                <a:solidFill>
                  <a:srgbClr val="4A4F5C"/>
                </a:solidFill>
                <a:latin typeface="IBM Plex Sans" pitchFamily="34" charset="0"/>
                <a:ea typeface="IBM Plex Sans" pitchFamily="34" charset="-122"/>
                <a:cs typeface="IBM Plex Sans" pitchFamily="34" charset="-120"/>
              </a:rPr>
              <a:t>Save a snapshot with a message</a:t>
            </a:r>
            <a:endParaRPr lang="en-US" sz="1400" dirty="0"/>
          </a:p>
        </p:txBody>
      </p:sp>
      <p:sp>
        <p:nvSpPr>
          <p:cNvPr id="15" name="Text 11"/>
          <p:cNvSpPr/>
          <p:nvPr/>
        </p:nvSpPr>
        <p:spPr>
          <a:xfrm>
            <a:off x="654304" y="3422650"/>
            <a:ext cx="10883392"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1B1F2A"/>
                </a:solidFill>
                <a:latin typeface="IBM Plex Sans" pitchFamily="34" charset="0"/>
                <a:ea typeface="IBM Plex Sans" pitchFamily="34" charset="-122"/>
                <a:cs typeface="IBM Plex Sans" pitchFamily="34" charset="-120"/>
              </a:rPr>
              <a:t>…and repeat. Run </a:t>
            </a:r>
            <a:r>
              <a:rPr lang="en-US" sz="1800" b="1" dirty="0">
                <a:solidFill>
                  <a:srgbClr val="1B1F2A"/>
                </a:solidFill>
                <a:latin typeface="IBM Plex Sans" pitchFamily="34" charset="0"/>
                <a:ea typeface="IBM Plex Sans" pitchFamily="34" charset="-122"/>
                <a:cs typeface="IBM Plex Sans" pitchFamily="34" charset="-120"/>
              </a:rPr>
              <a:t>git status</a:t>
            </a:r>
            <a:r>
              <a:rPr lang="en-US" sz="1800" dirty="0">
                <a:solidFill>
                  <a:srgbClr val="1B1F2A"/>
                </a:solidFill>
                <a:latin typeface="IBM Plex Sans" pitchFamily="34" charset="0"/>
                <a:ea typeface="IBM Plex Sans" pitchFamily="34" charset="-122"/>
                <a:cs typeface="IBM Plex Sans" pitchFamily="34" charset="-120"/>
              </a:rPr>
              <a:t> at any step to see where you are.</a:t>
            </a:r>
            <a:endParaRPr lang="en-US" sz="1800" dirty="0"/>
          </a:p>
        </p:txBody>
      </p:sp>
      <p:sp>
        <p:nvSpPr>
          <p:cNvPr id="16" name="Text 12"/>
          <p:cNvSpPr/>
          <p:nvPr/>
        </p:nvSpPr>
        <p:spPr>
          <a:xfrm>
            <a:off x="812800" y="6238242"/>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7" name="Text 13"/>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4">
    <p:bg>
      <p:bgPr>
        <a:solidFill>
          <a:srgbClr val="1B1F2A"/>
        </a:solidFill>
        <a:effectLst/>
      </p:bgPr>
    </p:bg>
    <p:spTree>
      <p:nvGrpSpPr>
        <p:cNvPr id="1" name=""/>
        <p:cNvGrpSpPr/>
        <p:nvPr/>
      </p:nvGrpSpPr>
      <p:grpSpPr>
        <a:xfrm>
          <a:off x="0" y="0"/>
          <a:ext cx="0" cy="0"/>
          <a:chOff x="0" y="0"/>
          <a:chExt cx="0" cy="0"/>
        </a:xfrm>
      </p:grpSpPr>
      <p:sp>
        <p:nvSpPr>
          <p:cNvPr id="2" name="Text 0"/>
          <p:cNvSpPr/>
          <p:nvPr/>
        </p:nvSpPr>
        <p:spPr>
          <a:xfrm>
            <a:off x="812800" y="1973585"/>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7894F"/>
                </a:solidFill>
                <a:latin typeface="Space Grotesk" pitchFamily="34" charset="0"/>
                <a:ea typeface="Space Grotesk" pitchFamily="34" charset="-122"/>
                <a:cs typeface="Space Grotesk" pitchFamily="34" charset="-120"/>
              </a:rPr>
              <a:t>06</a:t>
            </a:r>
            <a:endParaRPr lang="en-US" sz="6000" dirty="0"/>
          </a:p>
        </p:txBody>
      </p:sp>
      <p:sp>
        <p:nvSpPr>
          <p:cNvPr id="3" name="Text 1"/>
          <p:cNvSpPr/>
          <p:nvPr/>
        </p:nvSpPr>
        <p:spPr>
          <a:xfrm>
            <a:off x="812800" y="2938785"/>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F"/>
                </a:solidFill>
                <a:latin typeface="Space Grotesk" pitchFamily="34" charset="0"/>
                <a:ea typeface="Space Grotesk" pitchFamily="34" charset="-122"/>
                <a:cs typeface="Space Grotesk" pitchFamily="34" charset="-120"/>
              </a:rPr>
              <a:t>GitHub</a:t>
            </a:r>
            <a:endParaRPr lang="en-US" sz="6000" dirty="0"/>
          </a:p>
        </p:txBody>
      </p:sp>
      <p:sp>
        <p:nvSpPr>
          <p:cNvPr id="4" name="Text 2"/>
          <p:cNvSpPr/>
          <p:nvPr/>
        </p:nvSpPr>
        <p:spPr>
          <a:xfrm>
            <a:off x="812800" y="3942085"/>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Back up your work, share it, collaborate</a:t>
            </a:r>
            <a:endParaRPr lang="en-US" sz="2200" dirty="0"/>
          </a:p>
        </p:txBody>
      </p:sp>
      <p:sp>
        <p:nvSpPr>
          <p:cNvPr id="5" name="Text 3"/>
          <p:cNvSpPr/>
          <p:nvPr/>
        </p:nvSpPr>
        <p:spPr>
          <a:xfrm>
            <a:off x="812800" y="4508500"/>
            <a:ext cx="2022554" cy="375920"/>
          </a:xfrm>
          <a:prstGeom prst="roundRect">
            <a:avLst>
              <a:gd name="adj" fmla="val 50000"/>
            </a:avLst>
          </a:prstGeom>
          <a:solidFill>
            <a:srgbClr val="F7894F"/>
          </a:solidFill>
          <a:ln/>
        </p:spPr>
        <p:txBody>
          <a:bodyPr wrap="none" lIns="0" tIns="0" rIns="0" bIns="0" rtlCol="0" anchor="ctr">
            <a:normAutofit/>
          </a:bodyPr>
          <a:lstStyle/>
          <a:p>
            <a:pPr marL="0" indent="0" algn="ctr">
              <a:lnSpc>
                <a:spcPts val="1960"/>
              </a:lnSpc>
              <a:buNone/>
            </a:pP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GETTING STARTED</a:t>
            </a:r>
            <a:endParaRPr lang="en-US" sz="1200" dirty="0"/>
          </a:p>
        </p:txBody>
      </p:sp>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Create a GitHub repository</a:t>
            </a:r>
            <a:endParaRPr lang="en-US" sz="3600" dirty="0"/>
          </a:p>
        </p:txBody>
      </p:sp>
      <p:sp>
        <p:nvSpPr>
          <p:cNvPr id="4" name="Shape 2"/>
          <p:cNvSpPr/>
          <p:nvPr/>
        </p:nvSpPr>
        <p:spPr>
          <a:xfrm>
            <a:off x="815975" y="1938660"/>
            <a:ext cx="2520950" cy="2005330"/>
          </a:xfrm>
          <a:prstGeom prst="roundRect">
            <a:avLst>
              <a:gd name="adj" fmla="val 4908"/>
            </a:avLst>
          </a:prstGeom>
          <a:solidFill>
            <a:srgbClr val="FFFDF8"/>
          </a:solidFill>
          <a:ln w="6350">
            <a:solidFill>
              <a:srgbClr val="E2DDD0"/>
            </a:solidFill>
            <a:prstDash val="solid"/>
          </a:ln>
        </p:spPr>
      </p:sp>
      <p:sp>
        <p:nvSpPr>
          <p:cNvPr id="5" name="Text 3"/>
          <p:cNvSpPr/>
          <p:nvPr/>
        </p:nvSpPr>
        <p:spPr>
          <a:xfrm>
            <a:off x="1021080" y="214377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Space Grotesk" pitchFamily="34" charset="0"/>
                <a:ea typeface="Space Grotesk" pitchFamily="34" charset="-122"/>
                <a:cs typeface="Space Grotesk" pitchFamily="34" charset="-120"/>
              </a:rPr>
              <a:t>1</a:t>
            </a:r>
            <a:endParaRPr lang="en-US" sz="2800" dirty="0"/>
          </a:p>
        </p:txBody>
      </p:sp>
      <p:sp>
        <p:nvSpPr>
          <p:cNvPr id="6" name="Text 4"/>
          <p:cNvSpPr/>
          <p:nvPr/>
        </p:nvSpPr>
        <p:spPr>
          <a:xfrm>
            <a:off x="1021080" y="2743200"/>
            <a:ext cx="217406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A"/>
                </a:solidFill>
                <a:latin typeface="IBM Plex Sans" pitchFamily="34" charset="0"/>
                <a:ea typeface="IBM Plex Sans" pitchFamily="34" charset="-122"/>
                <a:cs typeface="IBM Plex Sans" pitchFamily="34" charset="-120"/>
              </a:rPr>
              <a:t>Sign up at </a:t>
            </a:r>
            <a:r>
              <a:rPr lang="en-US" sz="1400" b="1" dirty="0">
                <a:solidFill>
                  <a:srgbClr val="1B1F2A"/>
                </a:solidFill>
                <a:latin typeface="IBM Plex Sans" pitchFamily="34" charset="0"/>
                <a:ea typeface="IBM Plex Sans" pitchFamily="34" charset="-122"/>
                <a:cs typeface="IBM Plex Sans" pitchFamily="34" charset="-120"/>
              </a:rPr>
              <a:t>github.com</a:t>
            </a:r>
            <a:r>
              <a:rPr lang="en-US" sz="1400" dirty="0">
                <a:solidFill>
                  <a:srgbClr val="1B1F2A"/>
                </a:solidFill>
                <a:latin typeface="IBM Plex Sans" pitchFamily="34" charset="0"/>
                <a:ea typeface="IBM Plex Sans" pitchFamily="34" charset="-122"/>
                <a:cs typeface="IBM Plex Sans" pitchFamily="34" charset="-120"/>
              </a:rPr>
              <a:t>. Your username is your public identity — pick a professional one.</a:t>
            </a:r>
            <a:endParaRPr lang="en-US" sz="1400" dirty="0"/>
          </a:p>
        </p:txBody>
      </p:sp>
      <p:sp>
        <p:nvSpPr>
          <p:cNvPr id="7" name="Shape 5"/>
          <p:cNvSpPr/>
          <p:nvPr/>
        </p:nvSpPr>
        <p:spPr>
          <a:xfrm>
            <a:off x="3495675" y="1938660"/>
            <a:ext cx="2520950" cy="2005330"/>
          </a:xfrm>
          <a:prstGeom prst="roundRect">
            <a:avLst>
              <a:gd name="adj" fmla="val 4908"/>
            </a:avLst>
          </a:prstGeom>
          <a:solidFill>
            <a:srgbClr val="FFFDF8"/>
          </a:solidFill>
          <a:ln w="6350">
            <a:solidFill>
              <a:srgbClr val="E2DDD0"/>
            </a:solidFill>
            <a:prstDash val="solid"/>
          </a:ln>
        </p:spPr>
      </p:sp>
      <p:sp>
        <p:nvSpPr>
          <p:cNvPr id="8" name="Text 6"/>
          <p:cNvSpPr/>
          <p:nvPr/>
        </p:nvSpPr>
        <p:spPr>
          <a:xfrm>
            <a:off x="3700780" y="214377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Space Grotesk" pitchFamily="34" charset="0"/>
                <a:ea typeface="Space Grotesk" pitchFamily="34" charset="-122"/>
                <a:cs typeface="Space Grotesk" pitchFamily="34" charset="-120"/>
              </a:rPr>
              <a:t>2</a:t>
            </a:r>
            <a:endParaRPr lang="en-US" sz="2800" dirty="0"/>
          </a:p>
        </p:txBody>
      </p:sp>
      <p:sp>
        <p:nvSpPr>
          <p:cNvPr id="9" name="Text 7"/>
          <p:cNvSpPr/>
          <p:nvPr/>
        </p:nvSpPr>
        <p:spPr>
          <a:xfrm>
            <a:off x="3700780" y="274320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A"/>
                </a:solidFill>
                <a:latin typeface="IBM Plex Sans" pitchFamily="34" charset="0"/>
                <a:ea typeface="IBM Plex Sans" pitchFamily="34" charset="-122"/>
                <a:cs typeface="IBM Plex Sans" pitchFamily="34" charset="-120"/>
              </a:rPr>
              <a:t>Click </a:t>
            </a:r>
            <a:r>
              <a:rPr lang="en-US" sz="1400" b="1" dirty="0">
                <a:solidFill>
                  <a:srgbClr val="1B1F2A"/>
                </a:solidFill>
                <a:latin typeface="IBM Plex Sans" pitchFamily="34" charset="0"/>
                <a:ea typeface="IBM Plex Sans" pitchFamily="34" charset="-122"/>
                <a:cs typeface="IBM Plex Sans" pitchFamily="34" charset="-120"/>
              </a:rPr>
              <a:t>+</a:t>
            </a:r>
            <a:r>
              <a:rPr lang="en-US" sz="1400" dirty="0">
                <a:solidFill>
                  <a:srgbClr val="1B1F2A"/>
                </a:solidFill>
                <a:latin typeface="IBM Plex Sans" pitchFamily="34" charset="0"/>
                <a:ea typeface="IBM Plex Sans" pitchFamily="34" charset="-122"/>
                <a:cs typeface="IBM Plex Sans" pitchFamily="34" charset="-120"/>
              </a:rPr>
              <a:t> (top right) → </a:t>
            </a:r>
            <a:r>
              <a:rPr lang="en-US" sz="1400" b="1" dirty="0">
                <a:solidFill>
                  <a:srgbClr val="1B1F2A"/>
                </a:solidFill>
                <a:latin typeface="IBM Plex Sans" pitchFamily="34" charset="0"/>
                <a:ea typeface="IBM Plex Sans" pitchFamily="34" charset="-122"/>
                <a:cs typeface="IBM Plex Sans" pitchFamily="34" charset="-120"/>
              </a:rPr>
              <a:t>New repository</a:t>
            </a:r>
            <a:endParaRPr lang="en-US" sz="1400" dirty="0"/>
          </a:p>
        </p:txBody>
      </p:sp>
      <p:sp>
        <p:nvSpPr>
          <p:cNvPr id="10" name="Shape 8"/>
          <p:cNvSpPr/>
          <p:nvPr/>
        </p:nvSpPr>
        <p:spPr>
          <a:xfrm>
            <a:off x="6175375" y="1938660"/>
            <a:ext cx="2520950" cy="2005330"/>
          </a:xfrm>
          <a:prstGeom prst="roundRect">
            <a:avLst>
              <a:gd name="adj" fmla="val 4908"/>
            </a:avLst>
          </a:prstGeom>
          <a:solidFill>
            <a:srgbClr val="FFFDF8"/>
          </a:solidFill>
          <a:ln w="6350">
            <a:solidFill>
              <a:srgbClr val="E2DDD0"/>
            </a:solidFill>
            <a:prstDash val="solid"/>
          </a:ln>
        </p:spPr>
      </p:sp>
      <p:sp>
        <p:nvSpPr>
          <p:cNvPr id="11" name="Text 9"/>
          <p:cNvSpPr/>
          <p:nvPr/>
        </p:nvSpPr>
        <p:spPr>
          <a:xfrm>
            <a:off x="6380480" y="214377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Space Grotesk" pitchFamily="34" charset="0"/>
                <a:ea typeface="Space Grotesk" pitchFamily="34" charset="-122"/>
                <a:cs typeface="Space Grotesk" pitchFamily="34" charset="-120"/>
              </a:rPr>
              <a:t>3</a:t>
            </a:r>
            <a:endParaRPr lang="en-US" sz="2800" dirty="0"/>
          </a:p>
        </p:txBody>
      </p:sp>
      <p:sp>
        <p:nvSpPr>
          <p:cNvPr id="12" name="Text 10"/>
          <p:cNvSpPr/>
          <p:nvPr/>
        </p:nvSpPr>
        <p:spPr>
          <a:xfrm>
            <a:off x="6380480" y="274320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A"/>
                </a:solidFill>
                <a:latin typeface="IBM Plex Sans" pitchFamily="34" charset="0"/>
                <a:ea typeface="IBM Plex Sans" pitchFamily="34" charset="-122"/>
                <a:cs typeface="IBM Plex Sans" pitchFamily="34" charset="-120"/>
              </a:rPr>
              <a:t>Name it </a:t>
            </a:r>
            <a:r>
              <a:rPr lang="en-US" sz="1400" b="1" dirty="0">
                <a:solidFill>
                  <a:srgbClr val="1B1F2A"/>
                </a:solidFill>
                <a:latin typeface="IBM Plex Sans" pitchFamily="34" charset="0"/>
                <a:ea typeface="IBM Plex Sans" pitchFamily="34" charset="-122"/>
                <a:cs typeface="IBM Plex Sans" pitchFamily="34" charset="-120"/>
              </a:rPr>
              <a:t>my-first-repo</a:t>
            </a:r>
            <a:r>
              <a:rPr lang="en-US" sz="1400" dirty="0">
                <a:solidFill>
                  <a:srgbClr val="1B1F2A"/>
                </a:solidFill>
                <a:latin typeface="IBM Plex Sans" pitchFamily="34" charset="0"/>
                <a:ea typeface="IBM Plex Sans" pitchFamily="34" charset="-122"/>
                <a:cs typeface="IBM Plex Sans" pitchFamily="34" charset="-120"/>
              </a:rPr>
              <a:t>, choose Public</a:t>
            </a:r>
            <a:endParaRPr lang="en-US" sz="1400" dirty="0"/>
          </a:p>
        </p:txBody>
      </p:sp>
      <p:sp>
        <p:nvSpPr>
          <p:cNvPr id="13" name="Shape 11"/>
          <p:cNvSpPr/>
          <p:nvPr/>
        </p:nvSpPr>
        <p:spPr>
          <a:xfrm>
            <a:off x="8855075" y="1938660"/>
            <a:ext cx="2520950" cy="2005330"/>
          </a:xfrm>
          <a:prstGeom prst="roundRect">
            <a:avLst>
              <a:gd name="adj" fmla="val 4908"/>
            </a:avLst>
          </a:prstGeom>
          <a:solidFill>
            <a:srgbClr val="FFFDF8"/>
          </a:solidFill>
          <a:ln w="6350">
            <a:solidFill>
              <a:srgbClr val="E2DDD0"/>
            </a:solidFill>
            <a:prstDash val="solid"/>
          </a:ln>
        </p:spPr>
      </p:sp>
      <p:sp>
        <p:nvSpPr>
          <p:cNvPr id="14" name="Text 12"/>
          <p:cNvSpPr/>
          <p:nvPr/>
        </p:nvSpPr>
        <p:spPr>
          <a:xfrm>
            <a:off x="9060180" y="214377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Space Grotesk" pitchFamily="34" charset="0"/>
                <a:ea typeface="Space Grotesk" pitchFamily="34" charset="-122"/>
                <a:cs typeface="Space Grotesk" pitchFamily="34" charset="-120"/>
              </a:rPr>
              <a:t>4</a:t>
            </a:r>
            <a:endParaRPr lang="en-US" sz="2800" dirty="0"/>
          </a:p>
        </p:txBody>
      </p:sp>
      <p:sp>
        <p:nvSpPr>
          <p:cNvPr id="15" name="Text 13"/>
          <p:cNvSpPr/>
          <p:nvPr/>
        </p:nvSpPr>
        <p:spPr>
          <a:xfrm>
            <a:off x="9060180" y="2743200"/>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A"/>
                </a:solidFill>
                <a:latin typeface="IBM Plex Sans" pitchFamily="34" charset="0"/>
                <a:ea typeface="IBM Plex Sans" pitchFamily="34" charset="-122"/>
                <a:cs typeface="IBM Plex Sans" pitchFamily="34" charset="-120"/>
              </a:rPr>
              <a:t>Leave “Add a README” </a:t>
            </a:r>
            <a:r>
              <a:rPr lang="en-US" sz="1400" b="1" dirty="0">
                <a:solidFill>
                  <a:srgbClr val="1B1F2A"/>
                </a:solidFill>
                <a:latin typeface="IBM Plex Sans" pitchFamily="34" charset="0"/>
                <a:ea typeface="IBM Plex Sans" pitchFamily="34" charset="-122"/>
                <a:cs typeface="IBM Plex Sans" pitchFamily="34" charset="-120"/>
              </a:rPr>
              <a:t>unticked</a:t>
            </a:r>
            <a:r>
              <a:rPr lang="en-US" sz="1400" dirty="0">
                <a:solidFill>
                  <a:srgbClr val="1B1F2A"/>
                </a:solidFill>
                <a:latin typeface="IBM Plex Sans" pitchFamily="34" charset="0"/>
                <a:ea typeface="IBM Plex Sans" pitchFamily="34" charset="-122"/>
                <a:cs typeface="IBM Plex Sans" pitchFamily="34" charset="-120"/>
              </a:rPr>
              <a:t> (we already have a repo), then </a:t>
            </a:r>
            <a:r>
              <a:rPr lang="en-US" sz="1400" b="1" dirty="0">
                <a:solidFill>
                  <a:srgbClr val="1B1F2A"/>
                </a:solidFill>
                <a:latin typeface="IBM Plex Sans" pitchFamily="34" charset="0"/>
                <a:ea typeface="IBM Plex Sans" pitchFamily="34" charset="-122"/>
                <a:cs typeface="IBM Plex Sans" pitchFamily="34" charset="-120"/>
              </a:rPr>
              <a:t>Create</a:t>
            </a:r>
            <a:endParaRPr lang="en-US" sz="1400" dirty="0"/>
          </a:p>
        </p:txBody>
      </p:sp>
      <p:sp>
        <p:nvSpPr>
          <p:cNvPr id="16" name="Text 14"/>
          <p:cNvSpPr/>
          <p:nvPr/>
        </p:nvSpPr>
        <p:spPr>
          <a:xfrm>
            <a:off x="812800" y="425197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F5C"/>
                </a:solidFill>
                <a:latin typeface="IBM Plex Sans" pitchFamily="34" charset="0"/>
                <a:ea typeface="IBM Plex Sans" pitchFamily="34" charset="-122"/>
                <a:cs typeface="IBM Plex Sans" pitchFamily="34" charset="-120"/>
              </a:rPr>
              <a:t>GitHub then shows the exact commands to connect your computer — we'll use them next.</a:t>
            </a:r>
            <a:endParaRPr lang="en-US" sz="1500" dirty="0"/>
          </a:p>
        </p:txBody>
      </p:sp>
      <p:sp>
        <p:nvSpPr>
          <p:cNvPr id="17" name="Text 15"/>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8" name="Text 16"/>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FINDING YOUR WAY</a:t>
            </a:r>
            <a:endParaRPr lang="en-US" sz="1200" dirty="0"/>
          </a:p>
        </p:txBody>
      </p:sp>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What's on a repository page</a:t>
            </a:r>
            <a:endParaRPr lang="en-US" sz="3600" dirty="0"/>
          </a:p>
        </p:txBody>
      </p:sp>
      <p:sp>
        <p:nvSpPr>
          <p:cNvPr id="4" name="Shape 2"/>
          <p:cNvSpPr/>
          <p:nvPr/>
        </p:nvSpPr>
        <p:spPr>
          <a:xfrm>
            <a:off x="815975" y="1938660"/>
            <a:ext cx="3414157" cy="1649730"/>
          </a:xfrm>
          <a:prstGeom prst="roundRect">
            <a:avLst>
              <a:gd name="adj" fmla="val 5966"/>
            </a:avLst>
          </a:prstGeom>
          <a:solidFill>
            <a:srgbClr val="FFFDF8"/>
          </a:solidFill>
          <a:ln w="6350">
            <a:solidFill>
              <a:srgbClr val="E2DDD0"/>
            </a:solidFill>
            <a:prstDash val="solid"/>
          </a:ln>
        </p:spPr>
      </p:sp>
      <p:pic>
        <p:nvPicPr>
          <p:cNvPr id="5" name="Image 0" descr="Code"/>
          <p:cNvPicPr>
            <a:picLocks noChangeAspect="1"/>
          </p:cNvPicPr>
          <p:nvPr/>
        </p:nvPicPr>
        <p:blipFill>
          <a:blip r:embed="rId3"/>
          <a:srcRect/>
          <a:stretch/>
        </p:blipFill>
        <p:spPr>
          <a:xfrm>
            <a:off x="1046480" y="2169170"/>
            <a:ext cx="304800" cy="304800"/>
          </a:xfrm>
          <a:prstGeom prst="rect">
            <a:avLst/>
          </a:prstGeom>
        </p:spPr>
      </p:pic>
      <p:sp>
        <p:nvSpPr>
          <p:cNvPr id="6" name="Text 3"/>
          <p:cNvSpPr/>
          <p:nvPr/>
        </p:nvSpPr>
        <p:spPr>
          <a:xfrm>
            <a:off x="1046480" y="2562870"/>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Code</a:t>
            </a:r>
            <a:endParaRPr lang="en-US" sz="1600" dirty="0"/>
          </a:p>
        </p:txBody>
      </p:sp>
      <p:sp>
        <p:nvSpPr>
          <p:cNvPr id="7" name="Text 4"/>
          <p:cNvSpPr/>
          <p:nvPr/>
        </p:nvSpPr>
        <p:spPr>
          <a:xfrm>
            <a:off x="1046480" y="2895600"/>
            <a:ext cx="304174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C"/>
                </a:solidFill>
                <a:latin typeface="IBM Plex Sans" pitchFamily="34" charset="0"/>
                <a:ea typeface="IBM Plex Sans" pitchFamily="34" charset="-122"/>
                <a:cs typeface="IBM Plex Sans" pitchFamily="34" charset="-120"/>
              </a:rPr>
              <a:t>Browse files and folders. The README shows below.</a:t>
            </a:r>
            <a:endParaRPr lang="en-US" sz="1300" dirty="0"/>
          </a:p>
        </p:txBody>
      </p:sp>
      <p:sp>
        <p:nvSpPr>
          <p:cNvPr id="8" name="Shape 5"/>
          <p:cNvSpPr/>
          <p:nvPr/>
        </p:nvSpPr>
        <p:spPr>
          <a:xfrm>
            <a:off x="4388882" y="1938660"/>
            <a:ext cx="3414157" cy="1649730"/>
          </a:xfrm>
          <a:prstGeom prst="roundRect">
            <a:avLst>
              <a:gd name="adj" fmla="val 5966"/>
            </a:avLst>
          </a:prstGeom>
          <a:solidFill>
            <a:srgbClr val="FFFDF8"/>
          </a:solidFill>
          <a:ln w="6350">
            <a:solidFill>
              <a:srgbClr val="E2DDD0"/>
            </a:solidFill>
            <a:prstDash val="solid"/>
          </a:ln>
        </p:spPr>
      </p:sp>
      <p:pic>
        <p:nvPicPr>
          <p:cNvPr id="9" name="Image 1" descr="Clock"/>
          <p:cNvPicPr>
            <a:picLocks noChangeAspect="1"/>
          </p:cNvPicPr>
          <p:nvPr/>
        </p:nvPicPr>
        <p:blipFill>
          <a:blip r:embed="rId4"/>
          <a:srcRect/>
          <a:stretch/>
        </p:blipFill>
        <p:spPr>
          <a:xfrm>
            <a:off x="4619387" y="2169170"/>
            <a:ext cx="304800" cy="304800"/>
          </a:xfrm>
          <a:prstGeom prst="rect">
            <a:avLst/>
          </a:prstGeom>
        </p:spPr>
      </p:pic>
      <p:sp>
        <p:nvSpPr>
          <p:cNvPr id="10" name="Text 6"/>
          <p:cNvSpPr/>
          <p:nvPr/>
        </p:nvSpPr>
        <p:spPr>
          <a:xfrm>
            <a:off x="4619387" y="2562870"/>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Commits</a:t>
            </a:r>
            <a:endParaRPr lang="en-US" sz="1600" dirty="0"/>
          </a:p>
        </p:txBody>
      </p:sp>
      <p:sp>
        <p:nvSpPr>
          <p:cNvPr id="11" name="Text 7"/>
          <p:cNvSpPr/>
          <p:nvPr/>
        </p:nvSpPr>
        <p:spPr>
          <a:xfrm>
            <a:off x="4619387" y="2895600"/>
            <a:ext cx="304174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C"/>
                </a:solidFill>
                <a:latin typeface="IBM Plex Sans" pitchFamily="34" charset="0"/>
                <a:ea typeface="IBM Plex Sans" pitchFamily="34" charset="-122"/>
                <a:cs typeface="IBM Plex Sans" pitchFamily="34" charset="-120"/>
              </a:rPr>
              <a:t>The full history — the web version of git log.</a:t>
            </a:r>
            <a:endParaRPr lang="en-US" sz="1300" dirty="0"/>
          </a:p>
        </p:txBody>
      </p:sp>
      <p:sp>
        <p:nvSpPr>
          <p:cNvPr id="12" name="Shape 8"/>
          <p:cNvSpPr/>
          <p:nvPr/>
        </p:nvSpPr>
        <p:spPr>
          <a:xfrm>
            <a:off x="7961789" y="1938660"/>
            <a:ext cx="3414157" cy="1649730"/>
          </a:xfrm>
          <a:prstGeom prst="roundRect">
            <a:avLst>
              <a:gd name="adj" fmla="val 5966"/>
            </a:avLst>
          </a:prstGeom>
          <a:solidFill>
            <a:srgbClr val="FFFDF8"/>
          </a:solidFill>
          <a:ln w="6350">
            <a:solidFill>
              <a:srgbClr val="E2DDD0"/>
            </a:solidFill>
            <a:prstDash val="solid"/>
          </a:ln>
        </p:spPr>
      </p:sp>
      <p:pic>
        <p:nvPicPr>
          <p:cNvPr id="13" name="Image 2" descr="Link"/>
          <p:cNvPicPr>
            <a:picLocks noChangeAspect="1"/>
          </p:cNvPicPr>
          <p:nvPr/>
        </p:nvPicPr>
        <p:blipFill>
          <a:blip r:embed="rId5"/>
          <a:srcRect/>
          <a:stretch/>
        </p:blipFill>
        <p:spPr>
          <a:xfrm>
            <a:off x="8192294" y="2169170"/>
            <a:ext cx="304800" cy="304800"/>
          </a:xfrm>
          <a:prstGeom prst="rect">
            <a:avLst/>
          </a:prstGeom>
        </p:spPr>
      </p:pic>
      <p:sp>
        <p:nvSpPr>
          <p:cNvPr id="14" name="Text 9"/>
          <p:cNvSpPr/>
          <p:nvPr/>
        </p:nvSpPr>
        <p:spPr>
          <a:xfrm>
            <a:off x="8192294" y="2562870"/>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Branches</a:t>
            </a:r>
            <a:endParaRPr lang="en-US" sz="1600" dirty="0"/>
          </a:p>
        </p:txBody>
      </p:sp>
      <p:sp>
        <p:nvSpPr>
          <p:cNvPr id="15" name="Text 10"/>
          <p:cNvSpPr/>
          <p:nvPr/>
        </p:nvSpPr>
        <p:spPr>
          <a:xfrm>
            <a:off x="8192294" y="2895600"/>
            <a:ext cx="304174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C"/>
                </a:solidFill>
                <a:latin typeface="IBM Plex Sans" pitchFamily="34" charset="0"/>
                <a:ea typeface="IBM Plex Sans" pitchFamily="34" charset="-122"/>
                <a:cs typeface="IBM Plex Sans" pitchFamily="34" charset="-120"/>
              </a:rPr>
              <a:t>Switch between branches from the dropdown.</a:t>
            </a:r>
            <a:endParaRPr lang="en-US" sz="1300" dirty="0"/>
          </a:p>
        </p:txBody>
      </p:sp>
      <p:sp>
        <p:nvSpPr>
          <p:cNvPr id="16" name="Shape 11"/>
          <p:cNvSpPr/>
          <p:nvPr/>
        </p:nvSpPr>
        <p:spPr>
          <a:xfrm>
            <a:off x="815975" y="3747145"/>
            <a:ext cx="3414157" cy="1649730"/>
          </a:xfrm>
          <a:prstGeom prst="roundRect">
            <a:avLst>
              <a:gd name="adj" fmla="val 5966"/>
            </a:avLst>
          </a:prstGeom>
          <a:solidFill>
            <a:srgbClr val="FFFDF8"/>
          </a:solidFill>
          <a:ln w="6350">
            <a:solidFill>
              <a:srgbClr val="E2DDD0"/>
            </a:solidFill>
            <a:prstDash val="solid"/>
          </a:ln>
        </p:spPr>
      </p:sp>
      <p:pic>
        <p:nvPicPr>
          <p:cNvPr id="17" name="Image 3" descr="Warning"/>
          <p:cNvPicPr>
            <a:picLocks noChangeAspect="1"/>
          </p:cNvPicPr>
          <p:nvPr/>
        </p:nvPicPr>
        <p:blipFill>
          <a:blip r:embed="rId6"/>
          <a:srcRect/>
          <a:stretch/>
        </p:blipFill>
        <p:spPr>
          <a:xfrm>
            <a:off x="1046480" y="3977655"/>
            <a:ext cx="304800" cy="304800"/>
          </a:xfrm>
          <a:prstGeom prst="rect">
            <a:avLst/>
          </a:prstGeom>
        </p:spPr>
      </p:pic>
      <p:sp>
        <p:nvSpPr>
          <p:cNvPr id="18" name="Text 12"/>
          <p:cNvSpPr/>
          <p:nvPr/>
        </p:nvSpPr>
        <p:spPr>
          <a:xfrm>
            <a:off x="1046480" y="4371355"/>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Issues</a:t>
            </a:r>
            <a:endParaRPr lang="en-US" sz="1600" dirty="0"/>
          </a:p>
        </p:txBody>
      </p:sp>
      <p:sp>
        <p:nvSpPr>
          <p:cNvPr id="19" name="Text 13"/>
          <p:cNvSpPr/>
          <p:nvPr/>
        </p:nvSpPr>
        <p:spPr>
          <a:xfrm>
            <a:off x="1046480" y="4704085"/>
            <a:ext cx="304174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C"/>
                </a:solidFill>
                <a:latin typeface="IBM Plex Sans" pitchFamily="34" charset="0"/>
                <a:ea typeface="IBM Plex Sans" pitchFamily="34" charset="-122"/>
                <a:cs typeface="IBM Plex Sans" pitchFamily="34" charset="-120"/>
              </a:rPr>
              <a:t>A to-do and bug list for the project.</a:t>
            </a:r>
            <a:endParaRPr lang="en-US" sz="1300" dirty="0"/>
          </a:p>
        </p:txBody>
      </p:sp>
      <p:sp>
        <p:nvSpPr>
          <p:cNvPr id="20" name="Shape 14"/>
          <p:cNvSpPr/>
          <p:nvPr/>
        </p:nvSpPr>
        <p:spPr>
          <a:xfrm>
            <a:off x="4388882" y="3747145"/>
            <a:ext cx="3414157" cy="1649730"/>
          </a:xfrm>
          <a:prstGeom prst="roundRect">
            <a:avLst>
              <a:gd name="adj" fmla="val 5966"/>
            </a:avLst>
          </a:prstGeom>
          <a:solidFill>
            <a:srgbClr val="FFFDF8"/>
          </a:solidFill>
          <a:ln w="6350">
            <a:solidFill>
              <a:srgbClr val="E2DDD0"/>
            </a:solidFill>
            <a:prstDash val="solid"/>
          </a:ln>
        </p:spPr>
      </p:sp>
      <p:pic>
        <p:nvPicPr>
          <p:cNvPr id="21" name="Image 4" descr="Chat"/>
          <p:cNvPicPr>
            <a:picLocks noChangeAspect="1"/>
          </p:cNvPicPr>
          <p:nvPr/>
        </p:nvPicPr>
        <p:blipFill>
          <a:blip r:embed="rId7"/>
          <a:srcRect/>
          <a:stretch/>
        </p:blipFill>
        <p:spPr>
          <a:xfrm>
            <a:off x="4619387" y="3977655"/>
            <a:ext cx="304800" cy="304800"/>
          </a:xfrm>
          <a:prstGeom prst="rect">
            <a:avLst/>
          </a:prstGeom>
        </p:spPr>
      </p:pic>
      <p:sp>
        <p:nvSpPr>
          <p:cNvPr id="22" name="Text 15"/>
          <p:cNvSpPr/>
          <p:nvPr/>
        </p:nvSpPr>
        <p:spPr>
          <a:xfrm>
            <a:off x="4619387" y="4371355"/>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Pull requests</a:t>
            </a:r>
            <a:endParaRPr lang="en-US" sz="1600" dirty="0"/>
          </a:p>
        </p:txBody>
      </p:sp>
      <p:sp>
        <p:nvSpPr>
          <p:cNvPr id="23" name="Text 16"/>
          <p:cNvSpPr/>
          <p:nvPr/>
        </p:nvSpPr>
        <p:spPr>
          <a:xfrm>
            <a:off x="4619387" y="4704085"/>
            <a:ext cx="304174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C"/>
                </a:solidFill>
                <a:latin typeface="IBM Plex Sans" pitchFamily="34" charset="0"/>
                <a:ea typeface="IBM Plex Sans" pitchFamily="34" charset="-122"/>
                <a:cs typeface="IBM Plex Sans" pitchFamily="34" charset="-120"/>
              </a:rPr>
              <a:t>Proposed changes, waiting for review.</a:t>
            </a:r>
            <a:endParaRPr lang="en-US" sz="1300" dirty="0"/>
          </a:p>
        </p:txBody>
      </p:sp>
      <p:sp>
        <p:nvSpPr>
          <p:cNvPr id="24" name="Shape 17"/>
          <p:cNvSpPr/>
          <p:nvPr/>
        </p:nvSpPr>
        <p:spPr>
          <a:xfrm>
            <a:off x="7961789" y="3747145"/>
            <a:ext cx="3414157" cy="1649730"/>
          </a:xfrm>
          <a:prstGeom prst="roundRect">
            <a:avLst>
              <a:gd name="adj" fmla="val 5966"/>
            </a:avLst>
          </a:prstGeom>
          <a:solidFill>
            <a:srgbClr val="FFFDF8"/>
          </a:solidFill>
          <a:ln w="6350">
            <a:solidFill>
              <a:srgbClr val="E2DDD0"/>
            </a:solidFill>
            <a:prstDash val="solid"/>
          </a:ln>
        </p:spPr>
      </p:sp>
      <p:pic>
        <p:nvPicPr>
          <p:cNvPr id="25" name="Image 5" descr="Settings"/>
          <p:cNvPicPr>
            <a:picLocks noChangeAspect="1"/>
          </p:cNvPicPr>
          <p:nvPr/>
        </p:nvPicPr>
        <p:blipFill>
          <a:blip r:embed="rId8"/>
          <a:srcRect/>
          <a:stretch/>
        </p:blipFill>
        <p:spPr>
          <a:xfrm>
            <a:off x="8192294" y="3977655"/>
            <a:ext cx="304800" cy="304800"/>
          </a:xfrm>
          <a:prstGeom prst="rect">
            <a:avLst/>
          </a:prstGeom>
        </p:spPr>
      </p:pic>
      <p:sp>
        <p:nvSpPr>
          <p:cNvPr id="26" name="Text 18"/>
          <p:cNvSpPr/>
          <p:nvPr/>
        </p:nvSpPr>
        <p:spPr>
          <a:xfrm>
            <a:off x="8192294" y="4371355"/>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Settings</a:t>
            </a:r>
            <a:endParaRPr lang="en-US" sz="1600" dirty="0"/>
          </a:p>
        </p:txBody>
      </p:sp>
      <p:sp>
        <p:nvSpPr>
          <p:cNvPr id="27" name="Text 19"/>
          <p:cNvSpPr/>
          <p:nvPr/>
        </p:nvSpPr>
        <p:spPr>
          <a:xfrm>
            <a:off x="8192294" y="4704085"/>
            <a:ext cx="304174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C"/>
                </a:solidFill>
                <a:latin typeface="IBM Plex Sans" pitchFamily="34" charset="0"/>
                <a:ea typeface="IBM Plex Sans" pitchFamily="34" charset="-122"/>
                <a:cs typeface="IBM Plex Sans" pitchFamily="34" charset="-120"/>
              </a:rPr>
              <a:t>Rename, add collaborators, change visibility.</a:t>
            </a:r>
            <a:endParaRPr lang="en-US" sz="1300" dirty="0"/>
          </a:p>
        </p:txBody>
      </p:sp>
      <p:sp>
        <p:nvSpPr>
          <p:cNvPr id="28" name="Text 20"/>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9" name="Text 21"/>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LOCAL VS REMOTE</a:t>
            </a:r>
            <a:endParaRPr lang="en-US" sz="1200" dirty="0"/>
          </a:p>
        </p:txBody>
      </p:sp>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Two copies of your repository</a:t>
            </a:r>
            <a:endParaRPr lang="en-US" sz="3600" dirty="0"/>
          </a:p>
        </p:txBody>
      </p:sp>
      <p:sp>
        <p:nvSpPr>
          <p:cNvPr id="4" name="Shape 2"/>
          <p:cNvSpPr/>
          <p:nvPr/>
        </p:nvSpPr>
        <p:spPr>
          <a:xfrm>
            <a:off x="815975" y="2058665"/>
            <a:ext cx="3549650" cy="1691640"/>
          </a:xfrm>
          <a:prstGeom prst="roundRect">
            <a:avLst>
              <a:gd name="adj" fmla="val 5818"/>
            </a:avLst>
          </a:prstGeom>
          <a:solidFill>
            <a:srgbClr val="FFFDF8"/>
          </a:solidFill>
          <a:ln w="6350">
            <a:solidFill>
              <a:srgbClr val="E2DDD0"/>
            </a:solidFill>
            <a:prstDash val="solid"/>
          </a:ln>
        </p:spPr>
      </p:sp>
      <p:pic>
        <p:nvPicPr>
          <p:cNvPr id="5" name="Image 0" descr="Home"/>
          <p:cNvPicPr>
            <a:picLocks noChangeAspect="1"/>
          </p:cNvPicPr>
          <p:nvPr/>
        </p:nvPicPr>
        <p:blipFill>
          <a:blip r:embed="rId3"/>
          <a:srcRect/>
          <a:stretch/>
        </p:blipFill>
        <p:spPr>
          <a:xfrm>
            <a:off x="2362200" y="2314575"/>
            <a:ext cx="457200" cy="457200"/>
          </a:xfrm>
          <a:prstGeom prst="rect">
            <a:avLst/>
          </a:prstGeom>
        </p:spPr>
      </p:pic>
      <p:sp>
        <p:nvSpPr>
          <p:cNvPr id="6" name="Text 3"/>
          <p:cNvSpPr/>
          <p:nvPr/>
        </p:nvSpPr>
        <p:spPr>
          <a:xfrm>
            <a:off x="1685369" y="2860675"/>
            <a:ext cx="18651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F2A"/>
                </a:solidFill>
                <a:latin typeface="Space Grotesk" pitchFamily="34" charset="0"/>
                <a:ea typeface="Space Grotesk" pitchFamily="34" charset="-122"/>
                <a:cs typeface="Space Grotesk" pitchFamily="34" charset="-120"/>
              </a:rPr>
              <a:t>Your computer</a:t>
            </a:r>
            <a:endParaRPr lang="en-US" sz="2000" dirty="0"/>
          </a:p>
        </p:txBody>
      </p:sp>
      <p:sp>
        <p:nvSpPr>
          <p:cNvPr id="7" name="Text 4"/>
          <p:cNvSpPr/>
          <p:nvPr/>
        </p:nvSpPr>
        <p:spPr>
          <a:xfrm>
            <a:off x="1075449" y="3254375"/>
            <a:ext cx="3030623" cy="265430"/>
          </a:xfrm>
          <a:prstGeom prst="rect">
            <a:avLst/>
          </a:prstGeom>
          <a:noFill/>
          <a:ln/>
        </p:spPr>
        <p:txBody>
          <a:bodyPr wrap="square" lIns="0" tIns="0" rIns="0" bIns="0" rtlCol="0" anchor="t">
            <a:normAutofit/>
          </a:bodyPr>
          <a:lstStyle/>
          <a:p>
            <a:pPr marL="0" indent="0" algn="ctr">
              <a:lnSpc>
                <a:spcPts val="1890"/>
              </a:lnSpc>
              <a:buNone/>
            </a:pPr>
            <a:r>
              <a:rPr lang="en-US" sz="1400" dirty="0">
                <a:solidFill>
                  <a:srgbClr val="4A4F5C"/>
                </a:solidFill>
                <a:latin typeface="IBM Plex Sans" pitchFamily="34" charset="0"/>
                <a:ea typeface="IBM Plex Sans" pitchFamily="34" charset="-122"/>
                <a:cs typeface="IBM Plex Sans" pitchFamily="34" charset="-120"/>
              </a:rPr>
              <a:t>The </a:t>
            </a:r>
            <a:r>
              <a:rPr lang="en-US" sz="1400" b="1" dirty="0">
                <a:solidFill>
                  <a:srgbClr val="4A4F5C"/>
                </a:solidFill>
                <a:latin typeface="IBM Plex Sans" pitchFamily="34" charset="0"/>
                <a:ea typeface="IBM Plex Sans" pitchFamily="34" charset="-122"/>
                <a:cs typeface="IBM Plex Sans" pitchFamily="34" charset="-120"/>
              </a:rPr>
              <a:t>local</a:t>
            </a:r>
            <a:r>
              <a:rPr lang="en-US" sz="1400" dirty="0">
                <a:solidFill>
                  <a:srgbClr val="4A4F5C"/>
                </a:solidFill>
                <a:latin typeface="IBM Plex Sans" pitchFamily="34" charset="0"/>
                <a:ea typeface="IBM Plex Sans" pitchFamily="34" charset="-122"/>
                <a:cs typeface="IBM Plex Sans" pitchFamily="34" charset="-120"/>
              </a:rPr>
              <a:t> repository, where you work</a:t>
            </a:r>
            <a:endParaRPr lang="en-US" sz="1400" dirty="0"/>
          </a:p>
        </p:txBody>
      </p:sp>
      <p:sp>
        <p:nvSpPr>
          <p:cNvPr id="8" name="Text 5"/>
          <p:cNvSpPr/>
          <p:nvPr/>
        </p:nvSpPr>
        <p:spPr>
          <a:xfrm>
            <a:off x="5562521" y="2016770"/>
            <a:ext cx="11176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2410C"/>
                </a:solidFill>
                <a:latin typeface="JetBrains Mono" pitchFamily="34" charset="0"/>
                <a:ea typeface="JetBrains Mono" pitchFamily="34" charset="-122"/>
                <a:cs typeface="JetBrains Mono" pitchFamily="34" charset="-120"/>
              </a:rPr>
              <a:t>git push →</a:t>
            </a:r>
            <a:endParaRPr lang="en-US" sz="1400" dirty="0"/>
          </a:p>
        </p:txBody>
      </p:sp>
      <p:pic>
        <p:nvPicPr>
          <p:cNvPr id="9" name="Image 1" descr="connector"/>
          <p:cNvPicPr>
            <a:picLocks noChangeAspect="1"/>
          </p:cNvPicPr>
          <p:nvPr/>
        </p:nvPicPr>
        <p:blipFill>
          <a:blip r:embed="rId4"/>
          <a:srcRect/>
          <a:stretch/>
        </p:blipFill>
        <p:spPr>
          <a:xfrm>
            <a:off x="4826000" y="2303785"/>
            <a:ext cx="2540000" cy="152400"/>
          </a:xfrm>
          <a:prstGeom prst="rect">
            <a:avLst/>
          </a:prstGeom>
        </p:spPr>
      </p:pic>
      <p:sp>
        <p:nvSpPr>
          <p:cNvPr id="10" name="Text 6"/>
          <p:cNvSpPr/>
          <p:nvPr/>
        </p:nvSpPr>
        <p:spPr>
          <a:xfrm>
            <a:off x="5562521" y="2684785"/>
            <a:ext cx="11176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FB0"/>
                </a:solidFill>
                <a:latin typeface="JetBrains Mono" pitchFamily="34" charset="0"/>
                <a:ea typeface="JetBrains Mono" pitchFamily="34" charset="-122"/>
                <a:cs typeface="JetBrains Mono" pitchFamily="34" charset="-120"/>
              </a:rPr>
              <a:t>← git pull</a:t>
            </a:r>
            <a:endParaRPr lang="en-US" sz="1400" dirty="0"/>
          </a:p>
        </p:txBody>
      </p:sp>
      <p:pic>
        <p:nvPicPr>
          <p:cNvPr id="11" name="Image 2" descr="connector"/>
          <p:cNvPicPr>
            <a:picLocks noChangeAspect="1"/>
          </p:cNvPicPr>
          <p:nvPr/>
        </p:nvPicPr>
        <p:blipFill>
          <a:blip r:embed="rId5"/>
          <a:srcRect/>
          <a:stretch/>
        </p:blipFill>
        <p:spPr>
          <a:xfrm>
            <a:off x="4826000" y="2971800"/>
            <a:ext cx="2540000" cy="152400"/>
          </a:xfrm>
          <a:prstGeom prst="rect">
            <a:avLst/>
          </a:prstGeom>
        </p:spPr>
      </p:pic>
      <p:sp>
        <p:nvSpPr>
          <p:cNvPr id="12" name="Text 7"/>
          <p:cNvSpPr/>
          <p:nvPr/>
        </p:nvSpPr>
        <p:spPr>
          <a:xfrm>
            <a:off x="4815840" y="3352800"/>
            <a:ext cx="263721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FB0"/>
                </a:solidFill>
                <a:latin typeface="JetBrains Mono" pitchFamily="34" charset="0"/>
                <a:ea typeface="JetBrains Mono" pitchFamily="34" charset="-122"/>
                <a:cs typeface="JetBrains Mono" pitchFamily="34" charset="-120"/>
              </a:rPr>
              <a:t>← git clone (first time)</a:t>
            </a:r>
            <a:endParaRPr lang="en-US" sz="1400" dirty="0"/>
          </a:p>
        </p:txBody>
      </p:sp>
      <p:pic>
        <p:nvPicPr>
          <p:cNvPr id="13" name="Image 3" descr="connector"/>
          <p:cNvPicPr>
            <a:picLocks noChangeAspect="1"/>
          </p:cNvPicPr>
          <p:nvPr/>
        </p:nvPicPr>
        <p:blipFill>
          <a:blip r:embed="rId5"/>
          <a:srcRect/>
          <a:stretch/>
        </p:blipFill>
        <p:spPr>
          <a:xfrm>
            <a:off x="4826000" y="3639815"/>
            <a:ext cx="2540000" cy="152400"/>
          </a:xfrm>
          <a:prstGeom prst="rect">
            <a:avLst/>
          </a:prstGeom>
        </p:spPr>
      </p:pic>
      <p:sp>
        <p:nvSpPr>
          <p:cNvPr id="14" name="Shape 8"/>
          <p:cNvSpPr/>
          <p:nvPr/>
        </p:nvSpPr>
        <p:spPr>
          <a:xfrm>
            <a:off x="7826375" y="1938660"/>
            <a:ext cx="3549650" cy="1931670"/>
          </a:xfrm>
          <a:prstGeom prst="roundRect">
            <a:avLst>
              <a:gd name="adj" fmla="val 5095"/>
            </a:avLst>
          </a:prstGeom>
          <a:solidFill>
            <a:srgbClr val="FFFDF8"/>
          </a:solidFill>
          <a:ln w="6350">
            <a:solidFill>
              <a:srgbClr val="E2DDD0"/>
            </a:solidFill>
            <a:prstDash val="solid"/>
          </a:ln>
        </p:spPr>
      </p:sp>
      <p:pic>
        <p:nvPicPr>
          <p:cNvPr id="15" name="Image 4" descr="Cloud"/>
          <p:cNvPicPr>
            <a:picLocks noChangeAspect="1"/>
          </p:cNvPicPr>
          <p:nvPr/>
        </p:nvPicPr>
        <p:blipFill>
          <a:blip r:embed="rId6"/>
          <a:srcRect/>
          <a:stretch/>
        </p:blipFill>
        <p:spPr>
          <a:xfrm>
            <a:off x="9372600" y="2194570"/>
            <a:ext cx="457200" cy="457200"/>
          </a:xfrm>
          <a:prstGeom prst="rect">
            <a:avLst/>
          </a:prstGeom>
        </p:spPr>
      </p:pic>
      <p:sp>
        <p:nvSpPr>
          <p:cNvPr id="16" name="Text 9"/>
          <p:cNvSpPr/>
          <p:nvPr/>
        </p:nvSpPr>
        <p:spPr>
          <a:xfrm>
            <a:off x="9183450" y="2740670"/>
            <a:ext cx="88622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F2A"/>
                </a:solidFill>
                <a:latin typeface="Space Grotesk" pitchFamily="34" charset="0"/>
                <a:ea typeface="Space Grotesk" pitchFamily="34" charset="-122"/>
                <a:cs typeface="Space Grotesk" pitchFamily="34" charset="-120"/>
              </a:rPr>
              <a:t>GitHub</a:t>
            </a:r>
            <a:endParaRPr lang="en-US" sz="2000" dirty="0"/>
          </a:p>
        </p:txBody>
      </p:sp>
      <p:sp>
        <p:nvSpPr>
          <p:cNvPr id="17" name="Text 10"/>
          <p:cNvSpPr/>
          <p:nvPr/>
        </p:nvSpPr>
        <p:spPr>
          <a:xfrm>
            <a:off x="8036713" y="3134370"/>
            <a:ext cx="3128975" cy="505460"/>
          </a:xfrm>
          <a:prstGeom prst="rect">
            <a:avLst/>
          </a:prstGeom>
          <a:noFill/>
          <a:ln/>
        </p:spPr>
        <p:txBody>
          <a:bodyPr wrap="square" lIns="0" tIns="0" rIns="0" bIns="0" rtlCol="0" anchor="t">
            <a:normAutofit/>
          </a:bodyPr>
          <a:lstStyle/>
          <a:p>
            <a:pPr marL="0" indent="0" algn="ctr">
              <a:lnSpc>
                <a:spcPts val="1890"/>
              </a:lnSpc>
              <a:buNone/>
            </a:pPr>
            <a:r>
              <a:rPr lang="en-US" sz="1400" dirty="0">
                <a:solidFill>
                  <a:srgbClr val="4A4F5C"/>
                </a:solidFill>
                <a:latin typeface="IBM Plex Sans" pitchFamily="34" charset="0"/>
                <a:ea typeface="IBM Plex Sans" pitchFamily="34" charset="-122"/>
                <a:cs typeface="IBM Plex Sans" pitchFamily="34" charset="-120"/>
              </a:rPr>
              <a:t>The </a:t>
            </a:r>
            <a:r>
              <a:rPr lang="en-US" sz="1400" b="1" dirty="0">
                <a:solidFill>
                  <a:srgbClr val="4A4F5C"/>
                </a:solidFill>
                <a:latin typeface="IBM Plex Sans" pitchFamily="34" charset="0"/>
                <a:ea typeface="IBM Plex Sans" pitchFamily="34" charset="-122"/>
                <a:cs typeface="IBM Plex Sans" pitchFamily="34" charset="-120"/>
              </a:rPr>
              <a:t>remote</a:t>
            </a:r>
            <a:r>
              <a:rPr lang="en-US" sz="1400" dirty="0">
                <a:solidFill>
                  <a:srgbClr val="4A4F5C"/>
                </a:solidFill>
                <a:latin typeface="IBM Plex Sans" pitchFamily="34" charset="0"/>
                <a:ea typeface="IBM Plex Sans" pitchFamily="34" charset="-122"/>
                <a:cs typeface="IBM Plex Sans" pitchFamily="34" charset="-120"/>
              </a:rPr>
              <a:t> repository, nicknamed </a:t>
            </a:r>
            <a:r>
              <a:rPr lang="en-US" sz="1400" b="1" dirty="0">
                <a:solidFill>
                  <a:srgbClr val="4A4F5C"/>
                </a:solidFill>
                <a:latin typeface="IBM Plex Sans" pitchFamily="34" charset="0"/>
                <a:ea typeface="IBM Plex Sans" pitchFamily="34" charset="-122"/>
                <a:cs typeface="IBM Plex Sans" pitchFamily="34" charset="-120"/>
              </a:rPr>
              <a:t>origin</a:t>
            </a:r>
            <a:endParaRPr lang="en-US" sz="1400" dirty="0"/>
          </a:p>
        </p:txBody>
      </p:sp>
      <p:sp>
        <p:nvSpPr>
          <p:cNvPr id="18" name="Text 11"/>
          <p:cNvSpPr/>
          <p:nvPr/>
        </p:nvSpPr>
        <p:spPr>
          <a:xfrm>
            <a:off x="812800" y="41783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Git never syncs automatically — you decide when to push and pull.</a:t>
            </a:r>
            <a:endParaRPr lang="en-US" sz="1600" dirty="0"/>
          </a:p>
        </p:txBody>
      </p:sp>
      <p:sp>
        <p:nvSpPr>
          <p:cNvPr id="19" name="Text 12"/>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0" name="Text 13"/>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CONNECT &amp; UPLOAD</a:t>
            </a:r>
            <a:endParaRPr lang="en-US" sz="1200" dirty="0"/>
          </a:p>
        </p:txBody>
      </p:sp>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Push your repository to GitHub</a:t>
            </a:r>
            <a:endParaRPr lang="en-US" sz="3600" dirty="0"/>
          </a:p>
        </p:txBody>
      </p:sp>
      <p:sp>
        <p:nvSpPr>
          <p:cNvPr id="4" name="Shape 2"/>
          <p:cNvSpPr/>
          <p:nvPr/>
        </p:nvSpPr>
        <p:spPr>
          <a:xfrm>
            <a:off x="812800" y="1935485"/>
            <a:ext cx="10566400" cy="1257300"/>
          </a:xfrm>
          <a:prstGeom prst="roundRect">
            <a:avLst>
              <a:gd name="adj" fmla="val 8081"/>
            </a:avLst>
          </a:prstGeom>
          <a:solidFill>
            <a:srgbClr val="20242F"/>
          </a:solidFill>
          <a:ln/>
        </p:spPr>
      </p:sp>
      <p:sp>
        <p:nvSpPr>
          <p:cNvPr id="5" name="Text 3"/>
          <p:cNvSpPr/>
          <p:nvPr/>
        </p:nvSpPr>
        <p:spPr>
          <a:xfrm>
            <a:off x="1092200" y="2164085"/>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remote add origin https://github.com/YOUR-NAME/my-first-repo.git</a:t>
            </a:r>
            <a:endParaRPr lang="en-US" sz="1400" dirty="0"/>
          </a:p>
        </p:txBody>
      </p:sp>
      <p:sp>
        <p:nvSpPr>
          <p:cNvPr id="6" name="Text 4"/>
          <p:cNvSpPr/>
          <p:nvPr/>
        </p:nvSpPr>
        <p:spPr>
          <a:xfrm>
            <a:off x="1092200" y="2430785"/>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branch -M main </a:t>
            </a:r>
            <a:r>
              <a:rPr lang="en-US" sz="1400" dirty="0">
                <a:solidFill>
                  <a:srgbClr val="9AA3B5"/>
                </a:solidFill>
                <a:latin typeface="JetBrains Mono" pitchFamily="34" charset="0"/>
                <a:ea typeface="JetBrains Mono" pitchFamily="34" charset="-122"/>
                <a:cs typeface="JetBrains Mono" pitchFamily="34" charset="-120"/>
              </a:rPr>
              <a:t># make sure the branch is called main</a:t>
            </a:r>
            <a:endParaRPr lang="en-US" sz="1400" dirty="0"/>
          </a:p>
        </p:txBody>
      </p:sp>
      <p:sp>
        <p:nvSpPr>
          <p:cNvPr id="7" name="Text 5"/>
          <p:cNvSpPr/>
          <p:nvPr/>
        </p:nvSpPr>
        <p:spPr>
          <a:xfrm>
            <a:off x="1092200" y="2697485"/>
            <a:ext cx="1030782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7A072"/>
                </a:solidFill>
                <a:latin typeface="JetBrains Mono" pitchFamily="34" charset="0"/>
                <a:ea typeface="JetBrains Mono" pitchFamily="34" charset="-122"/>
                <a:cs typeface="JetBrains Mono" pitchFamily="34" charset="-120"/>
              </a:rPr>
              <a:t>$</a:t>
            </a:r>
            <a:r>
              <a:rPr lang="en-US" sz="1400" dirty="0">
                <a:solidFill>
                  <a:srgbClr val="EDEAE2"/>
                </a:solidFill>
                <a:latin typeface="JetBrains Mono" pitchFamily="34" charset="0"/>
                <a:ea typeface="JetBrains Mono" pitchFamily="34" charset="-122"/>
                <a:cs typeface="JetBrains Mono" pitchFamily="34" charset="-120"/>
              </a:rPr>
              <a:t> git push -u origin main</a:t>
            </a:r>
            <a:endParaRPr lang="en-US" sz="1400" dirty="0"/>
          </a:p>
        </p:txBody>
      </p:sp>
      <p:sp>
        <p:nvSpPr>
          <p:cNvPr id="8" name="Shape 6"/>
          <p:cNvSpPr/>
          <p:nvPr/>
        </p:nvSpPr>
        <p:spPr>
          <a:xfrm>
            <a:off x="815975" y="3500760"/>
            <a:ext cx="3380264" cy="1934210"/>
          </a:xfrm>
          <a:prstGeom prst="roundRect">
            <a:avLst>
              <a:gd name="adj" fmla="val 5089"/>
            </a:avLst>
          </a:prstGeom>
          <a:solidFill>
            <a:srgbClr val="FFFDF8"/>
          </a:solidFill>
          <a:ln w="6350">
            <a:solidFill>
              <a:srgbClr val="E2DDD0"/>
            </a:solidFill>
            <a:prstDash val="solid"/>
          </a:ln>
        </p:spPr>
      </p:sp>
      <p:pic>
        <p:nvPicPr>
          <p:cNvPr id="9" name="Image 0" descr="Link"/>
          <p:cNvPicPr>
            <a:picLocks noChangeAspect="1"/>
          </p:cNvPicPr>
          <p:nvPr/>
        </p:nvPicPr>
        <p:blipFill>
          <a:blip r:embed="rId3"/>
          <a:srcRect/>
          <a:stretch/>
        </p:blipFill>
        <p:spPr>
          <a:xfrm>
            <a:off x="1046480" y="3731270"/>
            <a:ext cx="304800" cy="304800"/>
          </a:xfrm>
          <a:prstGeom prst="rect">
            <a:avLst/>
          </a:prstGeom>
        </p:spPr>
      </p:pic>
      <p:sp>
        <p:nvSpPr>
          <p:cNvPr id="10" name="Text 7"/>
          <p:cNvSpPr/>
          <p:nvPr/>
        </p:nvSpPr>
        <p:spPr>
          <a:xfrm>
            <a:off x="1046480" y="4124970"/>
            <a:ext cx="300683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remote add</a:t>
            </a:r>
            <a:endParaRPr lang="en-US" sz="1600" dirty="0"/>
          </a:p>
        </p:txBody>
      </p:sp>
      <p:sp>
        <p:nvSpPr>
          <p:cNvPr id="11" name="Text 8"/>
          <p:cNvSpPr/>
          <p:nvPr/>
        </p:nvSpPr>
        <p:spPr>
          <a:xfrm>
            <a:off x="1046480" y="4457700"/>
            <a:ext cx="300683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Tells Git where the GitHub copy lives, nicknamed </a:t>
            </a:r>
            <a:r>
              <a:rPr lang="en-US" sz="1400" b="1" dirty="0">
                <a:solidFill>
                  <a:srgbClr val="4A4F5C"/>
                </a:solidFill>
                <a:latin typeface="IBM Plex Sans" pitchFamily="34" charset="0"/>
                <a:ea typeface="IBM Plex Sans" pitchFamily="34" charset="-122"/>
                <a:cs typeface="IBM Plex Sans" pitchFamily="34" charset="-120"/>
              </a:rPr>
              <a:t>origin</a:t>
            </a:r>
            <a:r>
              <a:rPr lang="en-US" sz="1400" dirty="0">
                <a:solidFill>
                  <a:srgbClr val="4A4F5C"/>
                </a:solidFill>
                <a:latin typeface="IBM Plex Sans" pitchFamily="34" charset="0"/>
                <a:ea typeface="IBM Plex Sans" pitchFamily="34" charset="-122"/>
                <a:cs typeface="IBM Plex Sans" pitchFamily="34" charset="-120"/>
              </a:rPr>
              <a:t>. Once per project.</a:t>
            </a:r>
            <a:endParaRPr lang="en-US" sz="1400" dirty="0"/>
          </a:p>
        </p:txBody>
      </p:sp>
      <p:sp>
        <p:nvSpPr>
          <p:cNvPr id="12" name="Shape 9"/>
          <p:cNvSpPr/>
          <p:nvPr/>
        </p:nvSpPr>
        <p:spPr>
          <a:xfrm>
            <a:off x="4405789" y="3500760"/>
            <a:ext cx="3380343" cy="1934210"/>
          </a:xfrm>
          <a:prstGeom prst="roundRect">
            <a:avLst>
              <a:gd name="adj" fmla="val 5089"/>
            </a:avLst>
          </a:prstGeom>
          <a:solidFill>
            <a:srgbClr val="FFFDF8"/>
          </a:solidFill>
          <a:ln w="6350">
            <a:solidFill>
              <a:srgbClr val="E2DDD0"/>
            </a:solidFill>
            <a:prstDash val="solid"/>
          </a:ln>
        </p:spPr>
      </p:sp>
      <p:pic>
        <p:nvPicPr>
          <p:cNvPr id="13" name="Image 1" descr="Check"/>
          <p:cNvPicPr>
            <a:picLocks noChangeAspect="1"/>
          </p:cNvPicPr>
          <p:nvPr/>
        </p:nvPicPr>
        <p:blipFill>
          <a:blip r:embed="rId4"/>
          <a:srcRect/>
          <a:stretch/>
        </p:blipFill>
        <p:spPr>
          <a:xfrm>
            <a:off x="4636294" y="3731270"/>
            <a:ext cx="304800" cy="304800"/>
          </a:xfrm>
          <a:prstGeom prst="rect">
            <a:avLst/>
          </a:prstGeom>
        </p:spPr>
      </p:pic>
      <p:sp>
        <p:nvSpPr>
          <p:cNvPr id="14" name="Text 10"/>
          <p:cNvSpPr/>
          <p:nvPr/>
        </p:nvSpPr>
        <p:spPr>
          <a:xfrm>
            <a:off x="4636294" y="4124970"/>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-u</a:t>
            </a:r>
            <a:endParaRPr lang="en-US" sz="1600" dirty="0"/>
          </a:p>
        </p:txBody>
      </p:sp>
      <p:sp>
        <p:nvSpPr>
          <p:cNvPr id="15" name="Text 11"/>
          <p:cNvSpPr/>
          <p:nvPr/>
        </p:nvSpPr>
        <p:spPr>
          <a:xfrm>
            <a:off x="4636294" y="4457700"/>
            <a:ext cx="300691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Remembers origin/main as the default — next time just type </a:t>
            </a:r>
            <a:r>
              <a:rPr lang="en-US" sz="1400" b="1" dirty="0">
                <a:solidFill>
                  <a:srgbClr val="4A4F5C"/>
                </a:solidFill>
                <a:latin typeface="IBM Plex Sans" pitchFamily="34" charset="0"/>
                <a:ea typeface="IBM Plex Sans" pitchFamily="34" charset="-122"/>
                <a:cs typeface="IBM Plex Sans" pitchFamily="34" charset="-120"/>
              </a:rPr>
              <a:t>git push</a:t>
            </a:r>
            <a:r>
              <a:rPr lang="en-US" sz="1400" dirty="0">
                <a:solidFill>
                  <a:srgbClr val="4A4F5C"/>
                </a:solidFill>
                <a:latin typeface="IBM Plex Sans" pitchFamily="34" charset="0"/>
                <a:ea typeface="IBM Plex Sans" pitchFamily="34" charset="-122"/>
                <a:cs typeface="IBM Plex Sans" pitchFamily="34" charset="-120"/>
              </a:rPr>
              <a:t>.</a:t>
            </a:r>
            <a:endParaRPr lang="en-US" sz="1400" dirty="0"/>
          </a:p>
        </p:txBody>
      </p:sp>
      <p:sp>
        <p:nvSpPr>
          <p:cNvPr id="16" name="Shape 12"/>
          <p:cNvSpPr/>
          <p:nvPr/>
        </p:nvSpPr>
        <p:spPr>
          <a:xfrm>
            <a:off x="7995682" y="3500760"/>
            <a:ext cx="3380343" cy="1934210"/>
          </a:xfrm>
          <a:prstGeom prst="roundRect">
            <a:avLst>
              <a:gd name="adj" fmla="val 5089"/>
            </a:avLst>
          </a:prstGeom>
          <a:solidFill>
            <a:srgbClr val="FFFDF8"/>
          </a:solidFill>
          <a:ln w="6350">
            <a:solidFill>
              <a:srgbClr val="E2DDD0"/>
            </a:solidFill>
            <a:prstDash val="solid"/>
          </a:ln>
        </p:spPr>
      </p:sp>
      <p:pic>
        <p:nvPicPr>
          <p:cNvPr id="17" name="Image 2" descr="Globe"/>
          <p:cNvPicPr>
            <a:picLocks noChangeAspect="1"/>
          </p:cNvPicPr>
          <p:nvPr/>
        </p:nvPicPr>
        <p:blipFill>
          <a:blip r:embed="rId5"/>
          <a:srcRect/>
          <a:stretch/>
        </p:blipFill>
        <p:spPr>
          <a:xfrm>
            <a:off x="8226187" y="3731270"/>
            <a:ext cx="304800" cy="304800"/>
          </a:xfrm>
          <a:prstGeom prst="rect">
            <a:avLst/>
          </a:prstGeom>
        </p:spPr>
      </p:pic>
      <p:sp>
        <p:nvSpPr>
          <p:cNvPr id="18" name="Text 13"/>
          <p:cNvSpPr/>
          <p:nvPr/>
        </p:nvSpPr>
        <p:spPr>
          <a:xfrm>
            <a:off x="8226187" y="4124970"/>
            <a:ext cx="30069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Then refresh</a:t>
            </a:r>
            <a:endParaRPr lang="en-US" sz="1600" dirty="0"/>
          </a:p>
        </p:txBody>
      </p:sp>
      <p:sp>
        <p:nvSpPr>
          <p:cNvPr id="19" name="Text 14"/>
          <p:cNvSpPr/>
          <p:nvPr/>
        </p:nvSpPr>
        <p:spPr>
          <a:xfrm>
            <a:off x="8226187" y="4457700"/>
            <a:ext cx="30069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Reload the GitHub page: your files and commits are there!</a:t>
            </a:r>
            <a:endParaRPr lang="en-US" sz="1400" dirty="0"/>
          </a:p>
        </p:txBody>
      </p:sp>
      <p:sp>
        <p:nvSpPr>
          <p:cNvPr id="20" name="Text 15"/>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21" name="Text 16"/>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SIGNING IN</a:t>
            </a:r>
            <a:endParaRPr lang="en-US" sz="1200" dirty="0"/>
          </a:p>
        </p:txBody>
      </p:sp>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Passwords don't work for git push</a:t>
            </a:r>
            <a:endParaRPr lang="en-US" sz="3600" dirty="0"/>
          </a:p>
        </p:txBody>
      </p:sp>
      <p:sp>
        <p:nvSpPr>
          <p:cNvPr id="4" name="Text 2"/>
          <p:cNvSpPr/>
          <p:nvPr/>
        </p:nvSpPr>
        <p:spPr>
          <a:xfrm>
            <a:off x="812800" y="1935485"/>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GitHub stopped accepting account passwords for Git commands. Use one of these instead:</a:t>
            </a:r>
            <a:endParaRPr lang="en-US" sz="1600" dirty="0"/>
          </a:p>
        </p:txBody>
      </p:sp>
      <p:sp>
        <p:nvSpPr>
          <p:cNvPr id="5" name="Shape 3"/>
          <p:cNvSpPr/>
          <p:nvPr/>
        </p:nvSpPr>
        <p:spPr>
          <a:xfrm>
            <a:off x="815975" y="2527945"/>
            <a:ext cx="5200650" cy="1291590"/>
          </a:xfrm>
          <a:prstGeom prst="roundRect">
            <a:avLst>
              <a:gd name="adj" fmla="val 7620"/>
            </a:avLst>
          </a:prstGeom>
          <a:solidFill>
            <a:srgbClr val="FFFDF8"/>
          </a:solidFill>
          <a:ln w="6350">
            <a:solidFill>
              <a:srgbClr val="E2DDD0"/>
            </a:solidFill>
            <a:prstDash val="solid"/>
          </a:ln>
        </p:spPr>
      </p:sp>
      <p:sp>
        <p:nvSpPr>
          <p:cNvPr id="6" name="Text 4"/>
          <p:cNvSpPr/>
          <p:nvPr/>
        </p:nvSpPr>
        <p:spPr>
          <a:xfrm>
            <a:off x="1046480" y="2758455"/>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Browser sign-in (easiest)</a:t>
            </a:r>
            <a:endParaRPr lang="en-US" sz="1600" dirty="0"/>
          </a:p>
        </p:txBody>
      </p:sp>
      <p:sp>
        <p:nvSpPr>
          <p:cNvPr id="7" name="Text 5"/>
          <p:cNvSpPr/>
          <p:nvPr/>
        </p:nvSpPr>
        <p:spPr>
          <a:xfrm>
            <a:off x="1046480" y="3091185"/>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Git for Windows includes </a:t>
            </a:r>
            <a:r>
              <a:rPr lang="en-US" sz="1400" b="1" dirty="0">
                <a:solidFill>
                  <a:srgbClr val="4A4F5C"/>
                </a:solidFill>
                <a:latin typeface="IBM Plex Sans" pitchFamily="34" charset="0"/>
                <a:ea typeface="IBM Plex Sans" pitchFamily="34" charset="-122"/>
                <a:cs typeface="IBM Plex Sans" pitchFamily="34" charset="-120"/>
              </a:rPr>
              <a:t>Git Credential Manager</a:t>
            </a:r>
            <a:r>
              <a:rPr lang="en-US" sz="1400" dirty="0">
                <a:solidFill>
                  <a:srgbClr val="4A4F5C"/>
                </a:solidFill>
                <a:latin typeface="IBM Plex Sans" pitchFamily="34" charset="0"/>
                <a:ea typeface="IBM Plex Sans" pitchFamily="34" charset="-122"/>
                <a:cs typeface="IBM Plex Sans" pitchFamily="34" charset="-120"/>
              </a:rPr>
              <a:t>: a browser window pops up — just log in.</a:t>
            </a:r>
            <a:endParaRPr lang="en-US" sz="1400" dirty="0"/>
          </a:p>
        </p:txBody>
      </p:sp>
      <p:sp>
        <p:nvSpPr>
          <p:cNvPr id="8" name="Shape 6"/>
          <p:cNvSpPr/>
          <p:nvPr/>
        </p:nvSpPr>
        <p:spPr>
          <a:xfrm>
            <a:off x="6175375" y="2527945"/>
            <a:ext cx="5200650" cy="1291590"/>
          </a:xfrm>
          <a:prstGeom prst="roundRect">
            <a:avLst>
              <a:gd name="adj" fmla="val 7620"/>
            </a:avLst>
          </a:prstGeom>
          <a:solidFill>
            <a:srgbClr val="FFFDF8"/>
          </a:solidFill>
          <a:ln w="6350">
            <a:solidFill>
              <a:srgbClr val="E2DDD0"/>
            </a:solidFill>
            <a:prstDash val="solid"/>
          </a:ln>
        </p:spPr>
      </p:sp>
      <p:sp>
        <p:nvSpPr>
          <p:cNvPr id="9" name="Text 7"/>
          <p:cNvSpPr/>
          <p:nvPr/>
        </p:nvSpPr>
        <p:spPr>
          <a:xfrm>
            <a:off x="6405880" y="2758455"/>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GitHub CLI</a:t>
            </a:r>
            <a:endParaRPr lang="en-US" sz="1600" dirty="0"/>
          </a:p>
        </p:txBody>
      </p:sp>
      <p:sp>
        <p:nvSpPr>
          <p:cNvPr id="10" name="Text 8"/>
          <p:cNvSpPr/>
          <p:nvPr/>
        </p:nvSpPr>
        <p:spPr>
          <a:xfrm>
            <a:off x="6405880" y="3091185"/>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Install the gh tool and run </a:t>
            </a:r>
            <a:r>
              <a:rPr lang="en-US" sz="1400" b="1" dirty="0">
                <a:solidFill>
                  <a:srgbClr val="C2410C"/>
                </a:solidFill>
                <a:latin typeface="IBM Plex Sans" pitchFamily="34" charset="0"/>
                <a:ea typeface="IBM Plex Sans" pitchFamily="34" charset="-122"/>
                <a:cs typeface="IBM Plex Sans" pitchFamily="34" charset="-120"/>
              </a:rPr>
              <a:t>gh auth login</a:t>
            </a:r>
            <a:r>
              <a:rPr lang="en-US" sz="1400" dirty="0">
                <a:solidFill>
                  <a:srgbClr val="4A4F5C"/>
                </a:solidFill>
                <a:latin typeface="IBM Plex Sans" pitchFamily="34" charset="0"/>
                <a:ea typeface="IBM Plex Sans" pitchFamily="34" charset="-122"/>
                <a:cs typeface="IBM Plex Sans" pitchFamily="34" charset="-120"/>
              </a:rPr>
              <a:t>. It sets everything up for you.</a:t>
            </a:r>
            <a:endParaRPr lang="en-US" sz="1400" dirty="0"/>
          </a:p>
        </p:txBody>
      </p:sp>
      <p:sp>
        <p:nvSpPr>
          <p:cNvPr id="11" name="Shape 9"/>
          <p:cNvSpPr/>
          <p:nvPr/>
        </p:nvSpPr>
        <p:spPr>
          <a:xfrm>
            <a:off x="815975" y="3978275"/>
            <a:ext cx="5200650" cy="1291590"/>
          </a:xfrm>
          <a:prstGeom prst="roundRect">
            <a:avLst>
              <a:gd name="adj" fmla="val 7620"/>
            </a:avLst>
          </a:prstGeom>
          <a:solidFill>
            <a:srgbClr val="FFFDF8"/>
          </a:solidFill>
          <a:ln w="6350">
            <a:solidFill>
              <a:srgbClr val="E2DDD0"/>
            </a:solidFill>
            <a:prstDash val="solid"/>
          </a:ln>
        </p:spPr>
      </p:sp>
      <p:sp>
        <p:nvSpPr>
          <p:cNvPr id="12" name="Text 10"/>
          <p:cNvSpPr/>
          <p:nvPr/>
        </p:nvSpPr>
        <p:spPr>
          <a:xfrm>
            <a:off x="1046480" y="4208785"/>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Personal access token</a:t>
            </a:r>
            <a:endParaRPr lang="en-US" sz="1600" dirty="0"/>
          </a:p>
        </p:txBody>
      </p:sp>
      <p:sp>
        <p:nvSpPr>
          <p:cNvPr id="13" name="Text 11"/>
          <p:cNvSpPr/>
          <p:nvPr/>
        </p:nvSpPr>
        <p:spPr>
          <a:xfrm>
            <a:off x="1046480" y="4541515"/>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Create one in GitHub Settings → Developer settings and paste it when asked for a password.</a:t>
            </a:r>
            <a:endParaRPr lang="en-US" sz="1400" dirty="0"/>
          </a:p>
        </p:txBody>
      </p:sp>
      <p:sp>
        <p:nvSpPr>
          <p:cNvPr id="14" name="Shape 12"/>
          <p:cNvSpPr/>
          <p:nvPr/>
        </p:nvSpPr>
        <p:spPr>
          <a:xfrm>
            <a:off x="6175375" y="3978275"/>
            <a:ext cx="5200650" cy="1291590"/>
          </a:xfrm>
          <a:prstGeom prst="roundRect">
            <a:avLst>
              <a:gd name="adj" fmla="val 7620"/>
            </a:avLst>
          </a:prstGeom>
          <a:solidFill>
            <a:srgbClr val="FFFDF8"/>
          </a:solidFill>
          <a:ln w="6350">
            <a:solidFill>
              <a:srgbClr val="E2DDD0"/>
            </a:solidFill>
            <a:prstDash val="solid"/>
          </a:ln>
        </p:spPr>
      </p:sp>
      <p:sp>
        <p:nvSpPr>
          <p:cNvPr id="15" name="Text 13"/>
          <p:cNvSpPr/>
          <p:nvPr/>
        </p:nvSpPr>
        <p:spPr>
          <a:xfrm>
            <a:off x="6405880" y="4208785"/>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F2A"/>
                </a:solidFill>
                <a:latin typeface="Space Grotesk" pitchFamily="34" charset="0"/>
                <a:ea typeface="Space Grotesk" pitchFamily="34" charset="-122"/>
                <a:cs typeface="Space Grotesk" pitchFamily="34" charset="-120"/>
              </a:rPr>
              <a:t>SSH keys</a:t>
            </a:r>
            <a:endParaRPr lang="en-US" sz="1600" dirty="0"/>
          </a:p>
        </p:txBody>
      </p:sp>
      <p:sp>
        <p:nvSpPr>
          <p:cNvPr id="16" name="Text 14"/>
          <p:cNvSpPr/>
          <p:nvPr/>
        </p:nvSpPr>
        <p:spPr>
          <a:xfrm>
            <a:off x="6405880" y="4541515"/>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C"/>
                </a:solidFill>
                <a:latin typeface="IBM Plex Sans" pitchFamily="34" charset="0"/>
                <a:ea typeface="IBM Plex Sans" pitchFamily="34" charset="-122"/>
                <a:cs typeface="IBM Plex Sans" pitchFamily="34" charset="-120"/>
              </a:rPr>
              <a:t>A key pair saved on your computer. Very common — learn it later.</a:t>
            </a:r>
            <a:endParaRPr lang="en-US" sz="1400" dirty="0"/>
          </a:p>
        </p:txBody>
      </p:sp>
      <p:sp>
        <p:nvSpPr>
          <p:cNvPr id="17" name="Text 15"/>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8" name="Text 16"/>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IBM Plex Sans" pitchFamily="34" charset="0"/>
                <a:ea typeface="IBM Plex Sans" pitchFamily="34" charset="-122"/>
                <a:cs typeface="IBM Plex Sans" pitchFamily="34" charset="-120"/>
              </a:rPr>
              <a:t>STAYING IN SYNC</a:t>
            </a:r>
            <a:endParaRPr lang="en-US" sz="1200" dirty="0"/>
          </a:p>
        </p:txBody>
      </p:sp>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Clone and pull</a:t>
            </a:r>
            <a:endParaRPr lang="en-US" sz="3600" dirty="0"/>
          </a:p>
        </p:txBody>
      </p:sp>
      <p:sp>
        <p:nvSpPr>
          <p:cNvPr id="4" name="Shape 2"/>
          <p:cNvSpPr/>
          <p:nvPr/>
        </p:nvSpPr>
        <p:spPr>
          <a:xfrm>
            <a:off x="812800" y="1935485"/>
            <a:ext cx="6350000" cy="1943100"/>
          </a:xfrm>
          <a:prstGeom prst="roundRect">
            <a:avLst>
              <a:gd name="adj" fmla="val 5229"/>
            </a:avLst>
          </a:prstGeom>
          <a:solidFill>
            <a:srgbClr val="20242F"/>
          </a:solidFill>
          <a:ln/>
        </p:spPr>
      </p:sp>
      <p:sp>
        <p:nvSpPr>
          <p:cNvPr id="5" name="Text 3"/>
          <p:cNvSpPr/>
          <p:nvPr/>
        </p:nvSpPr>
        <p:spPr>
          <a:xfrm>
            <a:off x="1092200" y="2164085"/>
            <a:ext cx="596493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5"/>
                </a:solidFill>
                <a:latin typeface="JetBrains Mono" pitchFamily="34" charset="0"/>
                <a:ea typeface="JetBrains Mono" pitchFamily="34" charset="-122"/>
                <a:cs typeface="JetBrains Mono" pitchFamily="34" charset="-120"/>
              </a:rPr>
              <a:t># copy a repo from GitHub (first time)</a:t>
            </a:r>
            <a:endParaRPr lang="en-US" sz="1300" dirty="0"/>
          </a:p>
        </p:txBody>
      </p:sp>
      <p:sp>
        <p:nvSpPr>
          <p:cNvPr id="6" name="Text 4"/>
          <p:cNvSpPr/>
          <p:nvPr/>
        </p:nvSpPr>
        <p:spPr>
          <a:xfrm>
            <a:off x="1092200" y="2411735"/>
            <a:ext cx="596493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clone https://github.com/USER/REPO.git</a:t>
            </a:r>
            <a:endParaRPr lang="en-US" sz="1300" dirty="0"/>
          </a:p>
        </p:txBody>
      </p:sp>
      <p:sp>
        <p:nvSpPr>
          <p:cNvPr id="7" name="Text 5"/>
          <p:cNvSpPr/>
          <p:nvPr/>
        </p:nvSpPr>
        <p:spPr>
          <a:xfrm>
            <a:off x="1092200" y="2659385"/>
            <a:ext cx="596493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cd REPO</a:t>
            </a:r>
            <a:endParaRPr lang="en-US" sz="1300" dirty="0"/>
          </a:p>
        </p:txBody>
      </p:sp>
      <p:sp>
        <p:nvSpPr>
          <p:cNvPr id="8" name="Text 6"/>
          <p:cNvSpPr/>
          <p:nvPr/>
        </p:nvSpPr>
        <p:spPr>
          <a:xfrm>
            <a:off x="1092200" y="3154685"/>
            <a:ext cx="596493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5"/>
                </a:solidFill>
                <a:latin typeface="JetBrains Mono" pitchFamily="34" charset="0"/>
                <a:ea typeface="JetBrains Mono" pitchFamily="34" charset="-122"/>
                <a:cs typeface="JetBrains Mono" pitchFamily="34" charset="-120"/>
              </a:rPr>
              <a:t># later: get the newest changes</a:t>
            </a:r>
            <a:endParaRPr lang="en-US" sz="1300" dirty="0"/>
          </a:p>
        </p:txBody>
      </p:sp>
      <p:sp>
        <p:nvSpPr>
          <p:cNvPr id="9" name="Text 7"/>
          <p:cNvSpPr/>
          <p:nvPr/>
        </p:nvSpPr>
        <p:spPr>
          <a:xfrm>
            <a:off x="1092200" y="3402335"/>
            <a:ext cx="596493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pull</a:t>
            </a:r>
            <a:endParaRPr lang="en-US" sz="1300" dirty="0"/>
          </a:p>
        </p:txBody>
      </p:sp>
      <p:sp>
        <p:nvSpPr>
          <p:cNvPr id="10" name="Text 8"/>
          <p:cNvSpPr/>
          <p:nvPr/>
        </p:nvSpPr>
        <p:spPr>
          <a:xfrm>
            <a:off x="7518400" y="2100585"/>
            <a:ext cx="397662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B1F2A"/>
                </a:solidFill>
                <a:latin typeface="IBM Plex Sans" pitchFamily="34" charset="0"/>
                <a:ea typeface="IBM Plex Sans" pitchFamily="34" charset="-122"/>
                <a:cs typeface="IBM Plex Sans" pitchFamily="34" charset="-120"/>
              </a:rPr>
              <a:t>The golden rule</a:t>
            </a:r>
            <a:endParaRPr lang="en-US" sz="1800" dirty="0"/>
          </a:p>
        </p:txBody>
      </p:sp>
      <p:sp>
        <p:nvSpPr>
          <p:cNvPr id="11" name="Text 9"/>
          <p:cNvSpPr/>
          <p:nvPr/>
        </p:nvSpPr>
        <p:spPr>
          <a:xfrm>
            <a:off x="7518400" y="2573015"/>
            <a:ext cx="397662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4F5C"/>
                </a:solidFill>
                <a:latin typeface="IBM Plex Sans" pitchFamily="34" charset="0"/>
                <a:ea typeface="IBM Plex Sans" pitchFamily="34" charset="-122"/>
                <a:cs typeface="IBM Plex Sans" pitchFamily="34" charset="-120"/>
              </a:rPr>
              <a:t>Pull</a:t>
            </a:r>
            <a:r>
              <a:rPr lang="en-US" sz="1600" dirty="0">
                <a:solidFill>
                  <a:srgbClr val="4A4F5C"/>
                </a:solidFill>
                <a:latin typeface="IBM Plex Sans" pitchFamily="34" charset="0"/>
                <a:ea typeface="IBM Plex Sans" pitchFamily="34" charset="-122"/>
                <a:cs typeface="IBM Plex Sans" pitchFamily="34" charset="-120"/>
              </a:rPr>
              <a:t> before you start working.</a:t>
            </a:r>
            <a:endParaRPr lang="en-US" sz="1600" dirty="0"/>
          </a:p>
        </p:txBody>
      </p:sp>
      <p:sp>
        <p:nvSpPr>
          <p:cNvPr id="12" name="Text 10"/>
          <p:cNvSpPr/>
          <p:nvPr/>
        </p:nvSpPr>
        <p:spPr>
          <a:xfrm>
            <a:off x="7518400" y="3009900"/>
            <a:ext cx="397662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4F5C"/>
                </a:solidFill>
                <a:latin typeface="IBM Plex Sans" pitchFamily="34" charset="0"/>
                <a:ea typeface="IBM Plex Sans" pitchFamily="34" charset="-122"/>
                <a:cs typeface="IBM Plex Sans" pitchFamily="34" charset="-120"/>
              </a:rPr>
              <a:t>Push</a:t>
            </a:r>
            <a:r>
              <a:rPr lang="en-US" sz="1600" dirty="0">
                <a:solidFill>
                  <a:srgbClr val="4A4F5C"/>
                </a:solidFill>
                <a:latin typeface="IBM Plex Sans" pitchFamily="34" charset="0"/>
                <a:ea typeface="IBM Plex Sans" pitchFamily="34" charset="-122"/>
                <a:cs typeface="IBM Plex Sans" pitchFamily="34" charset="-120"/>
              </a:rPr>
              <a:t> when you finish.</a:t>
            </a:r>
            <a:endParaRPr lang="en-US" sz="1600" dirty="0"/>
          </a:p>
        </p:txBody>
      </p:sp>
      <p:sp>
        <p:nvSpPr>
          <p:cNvPr id="13" name="Text 11"/>
          <p:cNvSpPr/>
          <p:nvPr/>
        </p:nvSpPr>
        <p:spPr>
          <a:xfrm>
            <a:off x="7518400" y="3446785"/>
            <a:ext cx="39766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F5C"/>
                </a:solidFill>
                <a:latin typeface="IBM Plex Sans" pitchFamily="34" charset="0"/>
                <a:ea typeface="IBM Plex Sans" pitchFamily="34" charset="-122"/>
                <a:cs typeface="IBM Plex Sans" pitchFamily="34" charset="-120"/>
              </a:rPr>
              <a:t>This avoids most sync problems.</a:t>
            </a:r>
            <a:endParaRPr lang="en-US" sz="1500" dirty="0"/>
          </a:p>
        </p:txBody>
      </p:sp>
      <p:sp>
        <p:nvSpPr>
          <p:cNvPr id="14" name="Text 12"/>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Git &amp; GitHub Basics</a:t>
            </a:r>
            <a:endParaRPr lang="en-US" sz="1200" dirty="0"/>
          </a:p>
        </p:txBody>
      </p:sp>
      <p:sp>
        <p:nvSpPr>
          <p:cNvPr id="15" name="Text 13"/>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B78"/>
                </a:solidFill>
                <a:latin typeface="IBM Plex Sans" pitchFamily="34" charset="0"/>
                <a:ea typeface="IBM Plex Sans" pitchFamily="34" charset="-122"/>
                <a:cs typeface="IBM Plex Sans" pitchFamily="34" charset="-120"/>
              </a:rPr>
              <a:t>40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1">
    <p:bg>
      <p:bgPr>
        <a:solidFill>
          <a:srgbClr val="F05A28"/>
        </a:solidFill>
        <a:effectLst/>
      </p:bgPr>
    </p:bg>
    <p:spTree>
      <p:nvGrpSpPr>
        <p:cNvPr id="1" name=""/>
        <p:cNvGrpSpPr/>
        <p:nvPr/>
      </p:nvGrpSpPr>
      <p:grpSpPr>
        <a:xfrm>
          <a:off x="0" y="0"/>
          <a:ext cx="0" cy="0"/>
          <a:chOff x="0" y="0"/>
          <a:chExt cx="0" cy="0"/>
        </a:xfrm>
      </p:grpSpPr>
      <p:sp>
        <p:nvSpPr>
          <p:cNvPr id="3" name="Text 1"/>
          <p:cNvSpPr/>
          <p:nvPr/>
        </p:nvSpPr>
        <p:spPr>
          <a:xfrm>
            <a:off x="812800" y="112777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F2A"/>
                </a:solidFill>
                <a:latin typeface="Space Grotesk" pitchFamily="34" charset="0"/>
                <a:ea typeface="Space Grotesk" pitchFamily="34" charset="-122"/>
                <a:cs typeface="Space Grotesk" pitchFamily="34" charset="-120"/>
              </a:rPr>
              <a:t>Put it on GitHub</a:t>
            </a:r>
            <a:endParaRPr lang="en-US" sz="3600" dirty="0"/>
          </a:p>
        </p:txBody>
      </p:sp>
      <p:sp>
        <p:nvSpPr>
          <p:cNvPr id="4" name="Text 2"/>
          <p:cNvSpPr/>
          <p:nvPr/>
        </p:nvSpPr>
        <p:spPr>
          <a:xfrm>
            <a:off x="855663" y="1935485"/>
            <a:ext cx="5443538" cy="1682750"/>
          </a:xfrm>
          <a:prstGeom prst="rect">
            <a:avLst/>
          </a:prstGeom>
          <a:noFill/>
          <a:ln/>
        </p:spPr>
        <p:txBody>
          <a:bodyPr wrap="square" lIns="0" tIns="0" rIns="0" bIns="0" rtlCol="0" anchor="t">
            <a:normAutofit/>
          </a:bodyPr>
          <a:lstStyle/>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Create an empty repo on GitHub called my-first-repo</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Copy its URL; run git remote add origin …</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git push -u origin main, and sign in</a:t>
            </a:r>
            <a:endParaRPr lang="en-US" sz="1500" dirty="0"/>
          </a:p>
          <a:p>
            <a:pPr marL="211138" indent="-211138" algn="l">
              <a:lnSpc>
                <a:spcPts val="2175"/>
              </a:lnSpc>
              <a:buSzPct val="100000"/>
              <a:buFontTx/>
              <a:buAutoNum type="arabicPeriod"/>
            </a:pPr>
            <a:r>
              <a:rPr lang="en-US" sz="1500" dirty="0">
                <a:solidFill>
                  <a:srgbClr val="1B1F2A"/>
                </a:solidFill>
                <a:latin typeface="IBM Plex Sans" pitchFamily="34" charset="0"/>
                <a:ea typeface="IBM Plex Sans" pitchFamily="34" charset="-122"/>
                <a:cs typeface="IBM Plex Sans" pitchFamily="34" charset="-120"/>
              </a:rPr>
              <a:t>Refresh GitHub: see your files and </a:t>
            </a:r>
            <a:r>
              <a:rPr lang="en-US" sz="1500" dirty="0" smtClean="0">
                <a:solidFill>
                  <a:srgbClr val="1B1F2A"/>
                </a:solidFill>
                <a:latin typeface="IBM Plex Sans" pitchFamily="34" charset="0"/>
                <a:ea typeface="IBM Plex Sans" pitchFamily="34" charset="-122"/>
                <a:cs typeface="IBM Plex Sans" pitchFamily="34" charset="-120"/>
              </a:rPr>
              <a:t>commits</a:t>
            </a:r>
            <a:endParaRPr lang="en-US" sz="1500" dirty="0"/>
          </a:p>
        </p:txBody>
      </p:sp>
      <p:sp>
        <p:nvSpPr>
          <p:cNvPr id="5" name="Shape 3"/>
          <p:cNvSpPr/>
          <p:nvPr/>
        </p:nvSpPr>
        <p:spPr>
          <a:xfrm>
            <a:off x="6553200" y="1935485"/>
            <a:ext cx="4826000" cy="1943100"/>
          </a:xfrm>
          <a:prstGeom prst="roundRect">
            <a:avLst>
              <a:gd name="adj" fmla="val 5229"/>
            </a:avLst>
          </a:prstGeom>
          <a:solidFill>
            <a:srgbClr val="20242F"/>
          </a:solidFill>
          <a:ln/>
        </p:spPr>
      </p:sp>
      <p:sp>
        <p:nvSpPr>
          <p:cNvPr id="6" name="Text 4"/>
          <p:cNvSpPr/>
          <p:nvPr/>
        </p:nvSpPr>
        <p:spPr>
          <a:xfrm>
            <a:off x="6832600" y="2164085"/>
            <a:ext cx="439521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remote add origin &lt;URL&gt;</a:t>
            </a:r>
            <a:endParaRPr lang="en-US" sz="1300" dirty="0"/>
          </a:p>
        </p:txBody>
      </p:sp>
      <p:sp>
        <p:nvSpPr>
          <p:cNvPr id="7" name="Text 5"/>
          <p:cNvSpPr/>
          <p:nvPr/>
        </p:nvSpPr>
        <p:spPr>
          <a:xfrm>
            <a:off x="6832600" y="2411735"/>
            <a:ext cx="439521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branch -M main</a:t>
            </a:r>
            <a:endParaRPr lang="en-US" sz="1300" dirty="0"/>
          </a:p>
        </p:txBody>
      </p:sp>
      <p:sp>
        <p:nvSpPr>
          <p:cNvPr id="8" name="Text 6"/>
          <p:cNvSpPr/>
          <p:nvPr/>
        </p:nvSpPr>
        <p:spPr>
          <a:xfrm>
            <a:off x="6832600" y="2659385"/>
            <a:ext cx="439521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push -u origin main</a:t>
            </a:r>
            <a:endParaRPr lang="en-US" sz="1300" dirty="0"/>
          </a:p>
        </p:txBody>
      </p:sp>
      <p:sp>
        <p:nvSpPr>
          <p:cNvPr id="9" name="Text 7"/>
          <p:cNvSpPr/>
          <p:nvPr/>
        </p:nvSpPr>
        <p:spPr>
          <a:xfrm>
            <a:off x="6832600" y="2907035"/>
            <a:ext cx="439521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5"/>
                </a:solidFill>
                <a:latin typeface="JetBrains Mono" pitchFamily="34" charset="0"/>
                <a:ea typeface="JetBrains Mono" pitchFamily="34" charset="-122"/>
                <a:cs typeface="JetBrains Mono" pitchFamily="34" charset="-120"/>
              </a:rPr>
              <a:t>  ...add README on GitHub...</a:t>
            </a:r>
            <a:endParaRPr lang="en-US" sz="1300" dirty="0"/>
          </a:p>
        </p:txBody>
      </p:sp>
      <p:sp>
        <p:nvSpPr>
          <p:cNvPr id="10" name="Text 8"/>
          <p:cNvSpPr/>
          <p:nvPr/>
        </p:nvSpPr>
        <p:spPr>
          <a:xfrm>
            <a:off x="6832600" y="3154685"/>
            <a:ext cx="439521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pull</a:t>
            </a:r>
            <a:endParaRPr lang="en-US" sz="1300" dirty="0"/>
          </a:p>
        </p:txBody>
      </p:sp>
      <p:sp>
        <p:nvSpPr>
          <p:cNvPr id="11" name="Text 9"/>
          <p:cNvSpPr/>
          <p:nvPr/>
        </p:nvSpPr>
        <p:spPr>
          <a:xfrm>
            <a:off x="6832600" y="3402335"/>
            <a:ext cx="439521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7A072"/>
                </a:solidFill>
                <a:latin typeface="JetBrains Mono" pitchFamily="34" charset="0"/>
                <a:ea typeface="JetBrains Mono" pitchFamily="34" charset="-122"/>
                <a:cs typeface="JetBrains Mono" pitchFamily="34" charset="-120"/>
              </a:rPr>
              <a:t>$</a:t>
            </a:r>
            <a:r>
              <a:rPr lang="en-US" sz="1300" dirty="0">
                <a:solidFill>
                  <a:srgbClr val="EDEAE2"/>
                </a:solidFill>
                <a:latin typeface="JetBrains Mono" pitchFamily="34" charset="0"/>
                <a:ea typeface="JetBrains Mono" pitchFamily="34" charset="-122"/>
                <a:cs typeface="JetBrains Mono" pitchFamily="34" charset="-120"/>
              </a:rPr>
              <a:t> git log --oneline</a:t>
            </a:r>
            <a:endParaRPr lang="en-US" sz="1300" dirty="0"/>
          </a:p>
        </p:txBody>
      </p:sp>
      <p:sp>
        <p:nvSpPr>
          <p:cNvPr id="12" name="Text 10"/>
          <p:cNvSpPr/>
          <p:nvPr/>
        </p:nvSpPr>
        <p:spPr>
          <a:xfrm>
            <a:off x="812800" y="6238255"/>
            <a:ext cx="1386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2A"/>
                </a:solidFill>
                <a:latin typeface="IBM Plex Sans" pitchFamily="34" charset="0"/>
                <a:ea typeface="IBM Plex Sans" pitchFamily="34" charset="-122"/>
                <a:cs typeface="IBM Plex Sans" pitchFamily="34" charset="-120"/>
              </a:rPr>
              <a:t>Git &amp; GitHub Basics</a:t>
            </a:r>
            <a:endParaRPr lang="en-US" sz="1200" dirty="0"/>
          </a:p>
        </p:txBody>
      </p:sp>
      <p:sp>
        <p:nvSpPr>
          <p:cNvPr id="13" name="Text 11"/>
          <p:cNvSpPr/>
          <p:nvPr/>
        </p:nvSpPr>
        <p:spPr>
          <a:xfrm>
            <a:off x="11196320" y="6238255"/>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2A"/>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2597</Words>
  <Application>Microsoft Office PowerPoint</Application>
  <PresentationFormat>Widescreen</PresentationFormat>
  <Paragraphs>350</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IBM Plex Sans</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 for Beginners</dc:title>
  <dc:subject>PptxGenJS Presentation</dc:subject>
  <dc:creator>PptxGenJS</dc:creator>
  <cp:lastModifiedBy>Arpan Pokhrel</cp:lastModifiedBy>
  <cp:revision>3</cp:revision>
  <dcterms:created xsi:type="dcterms:W3CDTF">2026-09-30T08:18:53Z</dcterms:created>
  <dcterms:modified xsi:type="dcterms:W3CDTF">2026-10-01T00:20:20Z</dcterms:modified>
</cp:coreProperties>
</file>